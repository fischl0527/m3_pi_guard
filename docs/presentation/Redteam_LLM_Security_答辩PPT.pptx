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70985A-E5D5-C79C-6CB6-832E3D8DC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8046B6-435E-061D-BF30-BF5619340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7498E5-97DC-5294-4971-08EAAF923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B9C5-3F44-4BD8-80CF-116ED16E7614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011A6A-FD6C-9F05-38BD-95A3E466A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80A0DF-F214-8F46-33AC-08D24107E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C7B0-0B73-4104-939D-07629FFC66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453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B1293D-EDA3-25DE-3AA4-8B98A02F8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AD0EAE-8681-C95C-FB8B-96CA522F4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F89779-A7D2-4347-BA61-1F606544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B9C5-3F44-4BD8-80CF-116ED16E7614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898183-949B-B4E2-D89F-A536483A1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183D68-9D72-2E61-E8ED-7635AE580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C7B0-0B73-4104-939D-07629FFC66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378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BAF369-AA97-9A57-2843-479D9188F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BAD79E-2189-40E9-8A1A-D4CC3F208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3DC4C7-8AE1-30EE-155D-4A9521736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B9C5-3F44-4BD8-80CF-116ED16E7614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FCA019-99E9-EC8F-1811-93190E34B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29679C-699A-43CC-57EC-06DFD3C37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C7B0-0B73-4104-939D-07629FFC66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585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75F7FE-050C-FEA3-C180-7E3D72B9B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CA2F4D-FB2C-CA1E-A68E-76FEEB4E48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04B760-8196-6811-BA4A-5254209A5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7BDC51-B52A-A32E-5D18-E7F9C9248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B9C5-3F44-4BD8-80CF-116ED16E7614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C0F139-4FA7-2497-2DAA-AA11CBA81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2120E7-AFC8-7910-B67F-034EEFC29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C7B0-0B73-4104-939D-07629FFC66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557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EAA8AD-9C64-EAB9-44EC-3626F91D4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E52EC3-EA48-5675-374B-F7E021252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10B4C5-5861-8F43-D2A0-11C5B8B91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91E68F-4755-DD8E-EB02-EB43439CBF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70B81FA-7E80-10F4-F4BB-9C1BCF78B3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7F017B2-CF06-B706-D434-4CD679FD1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B9C5-3F44-4BD8-80CF-116ED16E7614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8593493-1DF1-9294-5F3E-CE2AEA0B9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4D123DA-196A-DF00-5F2B-BF6DECCB1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C7B0-0B73-4104-939D-07629FFC66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928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7CE80D-AEED-66F1-9712-7243E4CCD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38902CF-4244-33ED-84D0-7238B8B10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B9C5-3F44-4BD8-80CF-116ED16E7614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0B51DCB-1271-41F7-4FB0-A90FAA3A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0666116-00ED-FB8D-B118-D1FED81BB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C7B0-0B73-4104-939D-07629FFC66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41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D2BC838-974E-58B2-957B-972092E3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B9C5-3F44-4BD8-80CF-116ED16E7614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73DCCC3-4B73-8287-EB75-B59173F00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BA9A3C-06E6-D593-2CAF-62DB5ACF2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C7B0-0B73-4104-939D-07629FFC66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743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519FDD-E33F-F707-C4D0-494628D17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57C0D3-1AEA-718B-73DC-04CA99826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8D876C8-6C82-7E3F-AD5E-0E6A3EEA1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E9FF28-73A5-9A02-ADDA-9AC7C2E11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B9C5-3F44-4BD8-80CF-116ED16E7614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1BDF2A-2A0C-99FD-1998-19DFAFD0A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100FE8-CA88-2BB3-4B0A-6C3060DFD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C7B0-0B73-4104-939D-07629FFC66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20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C3D652-6AA2-DAFB-EF6B-456DD1A4E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4A15F2-5069-103C-6BD3-87F14BC047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9DF6C1-2C9E-BAD5-B255-2E599085B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7B43F-CAB7-C67E-63FE-672DD91CA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B9C5-3F44-4BD8-80CF-116ED16E7614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CE5676-207B-E0C1-6378-2FD844246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6F8483-EBFC-945D-F9E6-BF7B8428A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C7B0-0B73-4104-939D-07629FFC66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389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2C6431-49DA-EC64-0946-10833BC20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C07B7E-31E5-D558-2E6F-548A463F8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684541-7A90-2123-E486-9E834E880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B9C5-3F44-4BD8-80CF-116ED16E7614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51CB43-4E68-3151-E7E5-2B24B285C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8D5D31-C0B7-C24E-D2CE-05227D46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C7B0-0B73-4104-939D-07629FFC66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802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FB85366-0FE5-252B-104F-270F363BD2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7A996E-492D-F8D5-23AC-052BF90420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BD30D0-96DC-DF00-5BF8-B585788FF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B9C5-3F44-4BD8-80CF-116ED16E7614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C1AACF-1AAA-3C96-40E6-0B948892A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CB203E-6F4D-6623-2ADF-7C256FF14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C7B0-0B73-4104-939D-07629FFC66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683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0C15A83-7BA3-5A4C-9ABB-A43316A25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EA6D71-1891-B2E8-5F40-613C18F38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DE19D9-9884-4F7D-38AE-C76672021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ECB9C5-3F44-4BD8-80CF-116ED16E7614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094A18-2B67-1CC7-0AD3-46093EA6E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7FCB16-4834-BDAE-6460-F5E60C496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73C7B0-0B73-4104-939D-07629FFC66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904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48642A5-D8DE-B270-226A-4253750D7C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F037C6A-FE44-15E5-1E48-47A82C85D5F5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D94C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94AE379-976C-F48F-BC49-6E7DCFDF4023}"/>
              </a:ext>
            </a:extLst>
          </p:cNvPr>
          <p:cNvSpPr txBox="1"/>
          <p:nvPr/>
        </p:nvSpPr>
        <p:spPr>
          <a:xfrm>
            <a:off x="863600" y="736600"/>
            <a:ext cx="533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FCA5A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RedTeam LLM Security</a:t>
            </a:r>
            <a:endParaRPr lang="zh-CN" altLang="en-US" sz="1400" b="1">
              <a:solidFill>
                <a:srgbClr val="FCA5A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667DC7A-3E99-839D-F28A-CF02E69C6639}"/>
              </a:ext>
            </a:extLst>
          </p:cNvPr>
          <p:cNvSpPr txBox="1"/>
          <p:nvPr/>
        </p:nvSpPr>
        <p:spPr>
          <a:xfrm>
            <a:off x="863600" y="1422400"/>
            <a:ext cx="660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3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M3-PI Guard</a:t>
            </a:r>
            <a:endParaRPr lang="zh-CN" altLang="en-US" sz="3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7B5428-46A6-704B-3025-DF8C0C3F3B08}"/>
              </a:ext>
            </a:extLst>
          </p:cNvPr>
          <p:cNvSpPr txBox="1"/>
          <p:nvPr/>
        </p:nvSpPr>
        <p:spPr>
          <a:xfrm>
            <a:off x="863600" y="2260600"/>
            <a:ext cx="8890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>
                <a:solidFill>
                  <a:srgbClr val="E5E7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面向工具调用智能体的提示注入行为监督与评测系统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9648346-FDE3-6513-C22C-2121995CBBCE}"/>
              </a:ext>
            </a:extLst>
          </p:cNvPr>
          <p:cNvSpPr/>
          <p:nvPr/>
        </p:nvSpPr>
        <p:spPr>
          <a:xfrm>
            <a:off x="863600" y="3302000"/>
            <a:ext cx="23495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7B8E02-B15F-1154-8290-72C98AAADEB5}"/>
              </a:ext>
            </a:extLst>
          </p:cNvPr>
          <p:cNvSpPr/>
          <p:nvPr/>
        </p:nvSpPr>
        <p:spPr>
          <a:xfrm>
            <a:off x="863600" y="3302000"/>
            <a:ext cx="76200" cy="812800"/>
          </a:xfrm>
          <a:prstGeom prst="rect">
            <a:avLst/>
          </a:prstGeom>
          <a:solidFill>
            <a:srgbClr val="2E9D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569954A-60CC-0590-BF7B-12EB5A7E5570}"/>
              </a:ext>
            </a:extLst>
          </p:cNvPr>
          <p:cNvSpPr txBox="1"/>
          <p:nvPr/>
        </p:nvSpPr>
        <p:spPr>
          <a:xfrm>
            <a:off x="1066800" y="3429000"/>
            <a:ext cx="1968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Qwen2.5 full_guard ASR</a:t>
            </a:r>
            <a:endParaRPr lang="zh-CN" altLang="en-US" sz="1000" b="1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D407EE4-C03F-ED90-9662-2C48F8E93FC3}"/>
              </a:ext>
            </a:extLst>
          </p:cNvPr>
          <p:cNvSpPr txBox="1"/>
          <p:nvPr/>
        </p:nvSpPr>
        <p:spPr>
          <a:xfrm>
            <a:off x="1066800" y="3695700"/>
            <a:ext cx="1968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2E9D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0.0%</a:t>
            </a:r>
            <a:endParaRPr lang="zh-CN" altLang="en-US" sz="2000" b="1">
              <a:solidFill>
                <a:srgbClr val="2E9D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49F4664-0782-ADA2-B451-E86675C1DE52}"/>
              </a:ext>
            </a:extLst>
          </p:cNvPr>
          <p:cNvSpPr/>
          <p:nvPr/>
        </p:nvSpPr>
        <p:spPr>
          <a:xfrm>
            <a:off x="3556000" y="3302000"/>
            <a:ext cx="23495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252C52B-9D03-4717-229C-9E87ACAB617E}"/>
              </a:ext>
            </a:extLst>
          </p:cNvPr>
          <p:cNvSpPr/>
          <p:nvPr/>
        </p:nvSpPr>
        <p:spPr>
          <a:xfrm>
            <a:off x="3556000" y="3302000"/>
            <a:ext cx="76200" cy="812800"/>
          </a:xfrm>
          <a:prstGeom prst="rect">
            <a:avLst/>
          </a:prstGeom>
          <a:solidFill>
            <a:srgbClr val="118A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CBAF7E6-3C85-DB8B-9196-21BCCB1460DD}"/>
              </a:ext>
            </a:extLst>
          </p:cNvPr>
          <p:cNvSpPr txBox="1"/>
          <p:nvPr/>
        </p:nvSpPr>
        <p:spPr>
          <a:xfrm>
            <a:off x="3759200" y="3429000"/>
            <a:ext cx="1968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Qwen2.5 full_guard DSR</a:t>
            </a:r>
            <a:endParaRPr lang="zh-CN" altLang="en-US" sz="1000" b="1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42CC149-BAB9-84D6-3915-5C0DDE4CB72D}"/>
              </a:ext>
            </a:extLst>
          </p:cNvPr>
          <p:cNvSpPr txBox="1"/>
          <p:nvPr/>
        </p:nvSpPr>
        <p:spPr>
          <a:xfrm>
            <a:off x="3759200" y="3695700"/>
            <a:ext cx="1968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118A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0.0%</a:t>
            </a:r>
            <a:endParaRPr lang="zh-CN" altLang="en-US" sz="2000" b="1">
              <a:solidFill>
                <a:srgbClr val="118A8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B4C1AED-7831-DD36-2F5F-CB45B78346AC}"/>
              </a:ext>
            </a:extLst>
          </p:cNvPr>
          <p:cNvSpPr/>
          <p:nvPr/>
        </p:nvSpPr>
        <p:spPr>
          <a:xfrm>
            <a:off x="6248400" y="3302000"/>
            <a:ext cx="23495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1F7F586-680A-A7CC-148C-ECE37B9A7623}"/>
              </a:ext>
            </a:extLst>
          </p:cNvPr>
          <p:cNvSpPr/>
          <p:nvPr/>
        </p:nvSpPr>
        <p:spPr>
          <a:xfrm>
            <a:off x="6248400" y="3302000"/>
            <a:ext cx="76200" cy="812800"/>
          </a:xfrm>
          <a:prstGeom prst="rect">
            <a:avLst/>
          </a:prstGeom>
          <a:solidFill>
            <a:srgbClr val="D88A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1680960-348E-DFDA-880F-262AC3DA59EA}"/>
              </a:ext>
            </a:extLst>
          </p:cNvPr>
          <p:cNvSpPr txBox="1"/>
          <p:nvPr/>
        </p:nvSpPr>
        <p:spPr>
          <a:xfrm>
            <a:off x="6451600" y="3429000"/>
            <a:ext cx="1968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Qwen2.5 full_guard WRS</a:t>
            </a:r>
            <a:endParaRPr lang="zh-CN" altLang="en-US" sz="1000" b="1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AC0D9C1-7C38-6EC0-898D-BAE058D59880}"/>
              </a:ext>
            </a:extLst>
          </p:cNvPr>
          <p:cNvSpPr txBox="1"/>
          <p:nvPr/>
        </p:nvSpPr>
        <p:spPr>
          <a:xfrm>
            <a:off x="6451600" y="3695700"/>
            <a:ext cx="1968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D88A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0.919</a:t>
            </a:r>
            <a:endParaRPr lang="zh-CN" altLang="en-US" sz="2000" b="1">
              <a:solidFill>
                <a:srgbClr val="D88A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C9595CF-C7F1-5CA7-6B55-CAB7EAADD2C6}"/>
              </a:ext>
            </a:extLst>
          </p:cNvPr>
          <p:cNvSpPr txBox="1"/>
          <p:nvPr/>
        </p:nvSpPr>
        <p:spPr>
          <a:xfrm>
            <a:off x="863600" y="5867400"/>
            <a:ext cx="533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CBD5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最终提交前答辩材料 </a:t>
            </a:r>
            <a:r>
              <a:rPr lang="en-US" altLang="zh-CN" sz="1300">
                <a:solidFill>
                  <a:srgbClr val="CBD5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300">
                <a:solidFill>
                  <a:srgbClr val="CBD5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匿名版</a:t>
            </a:r>
          </a:p>
        </p:txBody>
      </p:sp>
    </p:spTree>
    <p:extLst>
      <p:ext uri="{BB962C8B-B14F-4D97-AF65-F5344CB8AC3E}">
        <p14:creationId xmlns:p14="http://schemas.microsoft.com/office/powerpoint/2010/main" val="3039546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D148C44-B626-48C0-C033-15B6AFE893B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E94BAA-BC9C-F74A-D3D8-5D106D438F9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4C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7B9920C-BF56-7C5B-173C-E52A9EB0AEAB}"/>
              </a:ext>
            </a:extLst>
          </p:cNvPr>
          <p:cNvSpPr txBox="1"/>
          <p:nvPr/>
        </p:nvSpPr>
        <p:spPr>
          <a:xfrm>
            <a:off x="609600" y="2921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D94C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M3-PI Guard</a:t>
            </a:r>
            <a:endParaRPr lang="zh-CN" altLang="en-US" sz="1200" b="1">
              <a:solidFill>
                <a:srgbClr val="D94C4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286804-69CD-A68D-E8D5-569438F53F44}"/>
              </a:ext>
            </a:extLst>
          </p:cNvPr>
          <p:cNvSpPr txBox="1"/>
          <p:nvPr/>
        </p:nvSpPr>
        <p:spPr>
          <a:xfrm>
            <a:off x="609600" y="660400"/>
            <a:ext cx="914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背景：风险从文本输出转向工具行为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2E9DDDB-0345-B8D5-45BC-839259D65523}"/>
              </a:ext>
            </a:extLst>
          </p:cNvPr>
          <p:cNvCxnSpPr/>
          <p:nvPr/>
        </p:nvCxnSpPr>
        <p:spPr>
          <a:xfrm>
            <a:off x="609600" y="6070600"/>
            <a:ext cx="10185400" cy="0"/>
          </a:xfrm>
          <a:prstGeom prst="line">
            <a:avLst/>
          </a:prstGeom>
          <a:ln w="12700">
            <a:solidFill>
              <a:srgbClr val="D9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DE1196C1-F329-0355-EB56-AB1912359D91}"/>
              </a:ext>
            </a:extLst>
          </p:cNvPr>
          <p:cNvSpPr txBox="1"/>
          <p:nvPr/>
        </p:nvSpPr>
        <p:spPr>
          <a:xfrm>
            <a:off x="11150600" y="6146800"/>
            <a:ext cx="63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200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200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ADA9C8A-BCAE-8DDC-3973-8011F1FAB0EB}"/>
              </a:ext>
            </a:extLst>
          </p:cNvPr>
          <p:cNvSpPr/>
          <p:nvPr/>
        </p:nvSpPr>
        <p:spPr>
          <a:xfrm>
            <a:off x="698500" y="1524000"/>
            <a:ext cx="49530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A95C10-4E80-1D01-7598-96D621009542}"/>
              </a:ext>
            </a:extLst>
          </p:cNvPr>
          <p:cNvSpPr/>
          <p:nvPr/>
        </p:nvSpPr>
        <p:spPr>
          <a:xfrm>
            <a:off x="698500" y="1524000"/>
            <a:ext cx="76200" cy="34290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60E6017-CBC4-65CA-5C16-910B628CEB9E}"/>
              </a:ext>
            </a:extLst>
          </p:cNvPr>
          <p:cNvSpPr txBox="1"/>
          <p:nvPr/>
        </p:nvSpPr>
        <p:spPr>
          <a:xfrm>
            <a:off x="927100" y="1701800"/>
            <a:ext cx="4546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2C5A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C8C9F7-ADAF-23FE-0188-DB1B22958B5F}"/>
              </a:ext>
            </a:extLst>
          </p:cNvPr>
          <p:cNvSpPr txBox="1"/>
          <p:nvPr/>
        </p:nvSpPr>
        <p:spPr>
          <a:xfrm>
            <a:off x="927100" y="2159000"/>
            <a:ext cx="45466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Agent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不再只回答问题，而是会读文件、写文件、发邮件、调接口、执行代码
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提示注入一旦命中工具链，风险会变成可观测的外部动作
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单纯提示词加固难以解释每一次工具调用是否安全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384A692-0A08-ADBF-7C48-9DDCE24FD54E}"/>
              </a:ext>
            </a:extLst>
          </p:cNvPr>
          <p:cNvSpPr/>
          <p:nvPr/>
        </p:nvSpPr>
        <p:spPr>
          <a:xfrm>
            <a:off x="6540500" y="1524000"/>
            <a:ext cx="49530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BD8229-A56C-40D0-B13A-A88EC08C3C49}"/>
              </a:ext>
            </a:extLst>
          </p:cNvPr>
          <p:cNvSpPr/>
          <p:nvPr/>
        </p:nvSpPr>
        <p:spPr>
          <a:xfrm>
            <a:off x="6540500" y="1524000"/>
            <a:ext cx="76200" cy="3429000"/>
          </a:xfrm>
          <a:prstGeom prst="rect">
            <a:avLst/>
          </a:prstGeom>
          <a:solidFill>
            <a:srgbClr val="D94C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95D5EE6-4C9F-F7A4-D634-24B482086C3D}"/>
              </a:ext>
            </a:extLst>
          </p:cNvPr>
          <p:cNvSpPr txBox="1"/>
          <p:nvPr/>
        </p:nvSpPr>
        <p:spPr>
          <a:xfrm>
            <a:off x="6769100" y="1701800"/>
            <a:ext cx="4546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D94C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本作品切入点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2F8F53F-5CFE-AA3C-B685-1AB3AB9D9570}"/>
              </a:ext>
            </a:extLst>
          </p:cNvPr>
          <p:cNvSpPr txBox="1"/>
          <p:nvPr/>
        </p:nvSpPr>
        <p:spPr>
          <a:xfrm>
            <a:off x="6769100" y="2159000"/>
            <a:ext cx="45466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把防护点放在工具执行边界
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ToolCall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allow / ask / deny
•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用运行日志量化攻击成功、泄漏与阻断效果</a:t>
            </a:r>
          </a:p>
        </p:txBody>
      </p:sp>
    </p:spTree>
    <p:extLst>
      <p:ext uri="{BB962C8B-B14F-4D97-AF65-F5344CB8AC3E}">
        <p14:creationId xmlns:p14="http://schemas.microsoft.com/office/powerpoint/2010/main" val="3743117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8DD5382-A3C3-B150-312A-81E0BC9F54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33DA137-A99A-B059-6530-79AA4968E13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4C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DA0674-75FE-88CD-390E-8E0030EE3FFC}"/>
              </a:ext>
            </a:extLst>
          </p:cNvPr>
          <p:cNvSpPr txBox="1"/>
          <p:nvPr/>
        </p:nvSpPr>
        <p:spPr>
          <a:xfrm>
            <a:off x="609600" y="2921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D94C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M3-PI Guard</a:t>
            </a:r>
            <a:endParaRPr lang="zh-CN" altLang="en-US" sz="1200" b="1">
              <a:solidFill>
                <a:srgbClr val="D94C4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3143FA-B48E-C8AC-5FD4-82F3B23BD299}"/>
              </a:ext>
            </a:extLst>
          </p:cNvPr>
          <p:cNvSpPr txBox="1"/>
          <p:nvPr/>
        </p:nvSpPr>
        <p:spPr>
          <a:xfrm>
            <a:off x="609600" y="660400"/>
            <a:ext cx="914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威胁模型：不可信载体诱导越权工具调用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CE9F768-E32C-6C96-4D44-D573794A798A}"/>
              </a:ext>
            </a:extLst>
          </p:cNvPr>
          <p:cNvCxnSpPr/>
          <p:nvPr/>
        </p:nvCxnSpPr>
        <p:spPr>
          <a:xfrm>
            <a:off x="609600" y="6070600"/>
            <a:ext cx="10185400" cy="0"/>
          </a:xfrm>
          <a:prstGeom prst="line">
            <a:avLst/>
          </a:prstGeom>
          <a:ln w="12700">
            <a:solidFill>
              <a:srgbClr val="D9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DCECF496-994E-1388-3AFB-D477D0DE0215}"/>
              </a:ext>
            </a:extLst>
          </p:cNvPr>
          <p:cNvSpPr txBox="1"/>
          <p:nvPr/>
        </p:nvSpPr>
        <p:spPr>
          <a:xfrm>
            <a:off x="11150600" y="6146800"/>
            <a:ext cx="63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200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200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E7FEE6-60C3-96C6-3EB5-9E0FFF070FE8}"/>
              </a:ext>
            </a:extLst>
          </p:cNvPr>
          <p:cNvSpPr txBox="1"/>
          <p:nvPr/>
        </p:nvSpPr>
        <p:spPr>
          <a:xfrm>
            <a:off x="863600" y="1498600"/>
            <a:ext cx="203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D94C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攻击者目标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8D31D4-3175-F70D-79D6-0C55CC608776}"/>
              </a:ext>
            </a:extLst>
          </p:cNvPr>
          <p:cNvSpPr txBox="1"/>
          <p:nvPr/>
        </p:nvSpPr>
        <p:spPr>
          <a:xfrm>
            <a:off x="863600" y="1841500"/>
            <a:ext cx="1016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读取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sandbox/secrets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、外发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canary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、劫持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endpoint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、诱导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run_code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、利用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JSON/RPC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字段伪装下一步指令。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494FA8A-2AAA-7E13-3DF5-760EC161AAA4}"/>
              </a:ext>
            </a:extLst>
          </p:cNvPr>
          <p:cNvSpPr/>
          <p:nvPr/>
        </p:nvSpPr>
        <p:spPr>
          <a:xfrm>
            <a:off x="838200" y="2819400"/>
            <a:ext cx="1905000" cy="736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8A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D4935C0-24F1-3F63-BC6E-63F8660304CA}"/>
              </a:ext>
            </a:extLst>
          </p:cNvPr>
          <p:cNvSpPr txBox="1"/>
          <p:nvPr/>
        </p:nvSpPr>
        <p:spPr>
          <a:xfrm>
            <a:off x="939800" y="3035300"/>
            <a:ext cx="1701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D88A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文档 </a:t>
            </a:r>
            <a:r>
              <a:rPr lang="en-US" altLang="zh-CN" sz="1400" b="1">
                <a:solidFill>
                  <a:srgbClr val="D88A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 b="1">
                <a:solidFill>
                  <a:srgbClr val="D88A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网页 </a:t>
            </a:r>
            <a:r>
              <a:rPr lang="en-US" altLang="zh-CN" sz="1400" b="1">
                <a:solidFill>
                  <a:srgbClr val="D88A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 b="1">
                <a:solidFill>
                  <a:srgbClr val="D88A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工具输出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1B7D095-FDFC-3A0C-0FEC-1ECD973ECBD5}"/>
              </a:ext>
            </a:extLst>
          </p:cNvPr>
          <p:cNvCxnSpPr/>
          <p:nvPr/>
        </p:nvCxnSpPr>
        <p:spPr>
          <a:xfrm>
            <a:off x="2806700" y="3187700"/>
            <a:ext cx="469900" cy="0"/>
          </a:xfrm>
          <a:prstGeom prst="line">
            <a:avLst/>
          </a:prstGeom>
          <a:ln w="25400">
            <a:solidFill>
              <a:srgbClr val="5D69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2F369F0-1DBD-1933-C8B1-00E4AB2BF739}"/>
              </a:ext>
            </a:extLst>
          </p:cNvPr>
          <p:cNvSpPr/>
          <p:nvPr/>
        </p:nvSpPr>
        <p:spPr>
          <a:xfrm>
            <a:off x="3429000" y="2819400"/>
            <a:ext cx="1905000" cy="736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A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5BB61F2-49EF-3BC5-C8F1-FC7C57A2DCF9}"/>
              </a:ext>
            </a:extLst>
          </p:cNvPr>
          <p:cNvSpPr txBox="1"/>
          <p:nvPr/>
        </p:nvSpPr>
        <p:spPr>
          <a:xfrm>
            <a:off x="3530600" y="3035300"/>
            <a:ext cx="1701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2C5A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400" b="1">
                <a:solidFill>
                  <a:srgbClr val="2C5A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上下文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A3889E9-7765-366C-F583-C951D4FFE071}"/>
              </a:ext>
            </a:extLst>
          </p:cNvPr>
          <p:cNvCxnSpPr/>
          <p:nvPr/>
        </p:nvCxnSpPr>
        <p:spPr>
          <a:xfrm>
            <a:off x="5397500" y="3187700"/>
            <a:ext cx="469900" cy="0"/>
          </a:xfrm>
          <a:prstGeom prst="line">
            <a:avLst/>
          </a:prstGeom>
          <a:ln w="25400">
            <a:solidFill>
              <a:srgbClr val="5D69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BE0A3A1-2E00-417B-CF03-3CACB8653024}"/>
              </a:ext>
            </a:extLst>
          </p:cNvPr>
          <p:cNvSpPr/>
          <p:nvPr/>
        </p:nvSpPr>
        <p:spPr>
          <a:xfrm>
            <a:off x="6019800" y="2819400"/>
            <a:ext cx="1905000" cy="736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56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5C1DE74-381A-5937-48E8-90ED09F9226C}"/>
              </a:ext>
            </a:extLst>
          </p:cNvPr>
          <p:cNvSpPr txBox="1"/>
          <p:nvPr/>
        </p:nvSpPr>
        <p:spPr>
          <a:xfrm>
            <a:off x="6121400" y="3035300"/>
            <a:ext cx="1701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6956A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ToolCall</a:t>
            </a:r>
            <a:endParaRPr lang="zh-CN" altLang="en-US" sz="1400" b="1">
              <a:solidFill>
                <a:srgbClr val="6956A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F880CA8D-AE14-EC14-45EC-6AF891817CFE}"/>
              </a:ext>
            </a:extLst>
          </p:cNvPr>
          <p:cNvCxnSpPr/>
          <p:nvPr/>
        </p:nvCxnSpPr>
        <p:spPr>
          <a:xfrm>
            <a:off x="7988300" y="3187700"/>
            <a:ext cx="469900" cy="0"/>
          </a:xfrm>
          <a:prstGeom prst="line">
            <a:avLst/>
          </a:prstGeom>
          <a:ln w="25400">
            <a:solidFill>
              <a:srgbClr val="5D69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BD7F0CD-7086-C3AA-964B-14962C23729B}"/>
              </a:ext>
            </a:extLst>
          </p:cNvPr>
          <p:cNvSpPr/>
          <p:nvPr/>
        </p:nvSpPr>
        <p:spPr>
          <a:xfrm>
            <a:off x="8610600" y="2819400"/>
            <a:ext cx="1905000" cy="736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4C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FCEA233-52C3-62E0-BAEF-E8543BCA5410}"/>
              </a:ext>
            </a:extLst>
          </p:cNvPr>
          <p:cNvSpPr txBox="1"/>
          <p:nvPr/>
        </p:nvSpPr>
        <p:spPr>
          <a:xfrm>
            <a:off x="8712200" y="3035300"/>
            <a:ext cx="1701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D94C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外部副作用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1B092B7-9503-AA34-3B42-CD6601798E00}"/>
              </a:ext>
            </a:extLst>
          </p:cNvPr>
          <p:cNvSpPr/>
          <p:nvPr/>
        </p:nvSpPr>
        <p:spPr>
          <a:xfrm>
            <a:off x="1143000" y="4381500"/>
            <a:ext cx="9906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A36EDA3-8383-CF86-8BFE-228C310C8539}"/>
              </a:ext>
            </a:extLst>
          </p:cNvPr>
          <p:cNvSpPr/>
          <p:nvPr/>
        </p:nvSpPr>
        <p:spPr>
          <a:xfrm>
            <a:off x="1143000" y="4381500"/>
            <a:ext cx="76200" cy="1371600"/>
          </a:xfrm>
          <a:prstGeom prst="rect">
            <a:avLst/>
          </a:prstGeom>
          <a:solidFill>
            <a:srgbClr val="118A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CFFEC76-853F-EDBC-E193-2C062C63EED6}"/>
              </a:ext>
            </a:extLst>
          </p:cNvPr>
          <p:cNvSpPr txBox="1"/>
          <p:nvPr/>
        </p:nvSpPr>
        <p:spPr>
          <a:xfrm>
            <a:off x="1371600" y="4559300"/>
            <a:ext cx="949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18A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防护假设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5D7CCF9-2DBF-2E43-FD00-E145B32BBC44}"/>
              </a:ext>
            </a:extLst>
          </p:cNvPr>
          <p:cNvSpPr txBox="1"/>
          <p:nvPr/>
        </p:nvSpPr>
        <p:spPr>
          <a:xfrm>
            <a:off x="1371600" y="5016500"/>
            <a:ext cx="94996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工具执行前可观察到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context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tool_call
•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敏感数据、路径、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endpoint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和工具类型可规则化审计
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允许正常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public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读写与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final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回答，控制外发与代码执行风险</a:t>
            </a:r>
          </a:p>
        </p:txBody>
      </p:sp>
    </p:spTree>
    <p:extLst>
      <p:ext uri="{BB962C8B-B14F-4D97-AF65-F5344CB8AC3E}">
        <p14:creationId xmlns:p14="http://schemas.microsoft.com/office/powerpoint/2010/main" val="1940540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7B2591-D762-53F0-26F6-902F25F2DF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7D764A-E816-F106-6892-F30CB1E87E3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4C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9805681-5683-C95B-632C-ADC1DB262B1F}"/>
              </a:ext>
            </a:extLst>
          </p:cNvPr>
          <p:cNvSpPr txBox="1"/>
          <p:nvPr/>
        </p:nvSpPr>
        <p:spPr>
          <a:xfrm>
            <a:off x="609600" y="2921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D94C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M3-PI Guard</a:t>
            </a:r>
            <a:endParaRPr lang="zh-CN" altLang="en-US" sz="1200" b="1">
              <a:solidFill>
                <a:srgbClr val="D94C4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78889D-6CE2-42C6-B9A4-3792FD7D44D1}"/>
              </a:ext>
            </a:extLst>
          </p:cNvPr>
          <p:cNvSpPr txBox="1"/>
          <p:nvPr/>
        </p:nvSpPr>
        <p:spPr>
          <a:xfrm>
            <a:off x="609600" y="660400"/>
            <a:ext cx="914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系统架构：本地靶场、</a:t>
            </a:r>
            <a:r>
              <a:rPr lang="en-US" altLang="zh-CN" sz="25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Guard </a:t>
            </a:r>
            <a:r>
              <a:rPr lang="zh-CN" altLang="en-US" sz="25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与评测闭环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2757DF5-B79B-A643-185D-8D6B9BDA2E5F}"/>
              </a:ext>
            </a:extLst>
          </p:cNvPr>
          <p:cNvCxnSpPr/>
          <p:nvPr/>
        </p:nvCxnSpPr>
        <p:spPr>
          <a:xfrm>
            <a:off x="609600" y="6070600"/>
            <a:ext cx="10185400" cy="0"/>
          </a:xfrm>
          <a:prstGeom prst="line">
            <a:avLst/>
          </a:prstGeom>
          <a:ln w="12700">
            <a:solidFill>
              <a:srgbClr val="D9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4C3496F8-0826-F761-4586-33BD2C60F9C4}"/>
              </a:ext>
            </a:extLst>
          </p:cNvPr>
          <p:cNvSpPr txBox="1"/>
          <p:nvPr/>
        </p:nvSpPr>
        <p:spPr>
          <a:xfrm>
            <a:off x="11150600" y="6146800"/>
            <a:ext cx="63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200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1200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4F51137-0154-9ADE-4FCF-A94472A12D7A}"/>
              </a:ext>
            </a:extLst>
          </p:cNvPr>
          <p:cNvSpPr txBox="1"/>
          <p:nvPr/>
        </p:nvSpPr>
        <p:spPr>
          <a:xfrm>
            <a:off x="863600" y="1524000"/>
            <a:ext cx="1041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攻击样本驱动运行，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Guard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在工具执行前裁决，日志进入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evaluate.py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计算指标，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Dashboard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支持总览、分组、阻断记录与单案例回放。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4020A77-3017-C9DD-28AD-33737D7A3F81}"/>
              </a:ext>
            </a:extLst>
          </p:cNvPr>
          <p:cNvSpPr/>
          <p:nvPr/>
        </p:nvSpPr>
        <p:spPr>
          <a:xfrm>
            <a:off x="571500" y="2730500"/>
            <a:ext cx="1422400" cy="736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4C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6FEA0DB-6168-0E51-B1A8-E2793223F781}"/>
              </a:ext>
            </a:extLst>
          </p:cNvPr>
          <p:cNvSpPr txBox="1"/>
          <p:nvPr/>
        </p:nvSpPr>
        <p:spPr>
          <a:xfrm>
            <a:off x="673100" y="2946400"/>
            <a:ext cx="1219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D94C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AttackCase</a:t>
            </a:r>
            <a:endParaRPr lang="zh-CN" altLang="en-US" sz="1400" b="1">
              <a:solidFill>
                <a:srgbClr val="D94C4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6819177-C3AB-1FB4-5AB6-2692D3C73373}"/>
              </a:ext>
            </a:extLst>
          </p:cNvPr>
          <p:cNvCxnSpPr/>
          <p:nvPr/>
        </p:nvCxnSpPr>
        <p:spPr>
          <a:xfrm>
            <a:off x="2044700" y="3098800"/>
            <a:ext cx="254000" cy="0"/>
          </a:xfrm>
          <a:prstGeom prst="line">
            <a:avLst/>
          </a:prstGeom>
          <a:ln w="22860">
            <a:solidFill>
              <a:srgbClr val="5D69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03B4C70-87D1-25FD-EDAA-5F343B7E341B}"/>
              </a:ext>
            </a:extLst>
          </p:cNvPr>
          <p:cNvSpPr/>
          <p:nvPr/>
        </p:nvSpPr>
        <p:spPr>
          <a:xfrm>
            <a:off x="2413000" y="2730500"/>
            <a:ext cx="1422400" cy="736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A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2954AC-F2C5-439E-7A10-AAA36ABC3AD3}"/>
              </a:ext>
            </a:extLst>
          </p:cNvPr>
          <p:cNvSpPr txBox="1"/>
          <p:nvPr/>
        </p:nvSpPr>
        <p:spPr>
          <a:xfrm>
            <a:off x="2514600" y="2946400"/>
            <a:ext cx="1219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2C5A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Runner</a:t>
            </a:r>
            <a:endParaRPr lang="zh-CN" altLang="en-US" sz="1400" b="1">
              <a:solidFill>
                <a:srgbClr val="2C5A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EA8C20D-B1C9-5FFD-8E78-4239A01AFF35}"/>
              </a:ext>
            </a:extLst>
          </p:cNvPr>
          <p:cNvCxnSpPr/>
          <p:nvPr/>
        </p:nvCxnSpPr>
        <p:spPr>
          <a:xfrm>
            <a:off x="3886200" y="3098800"/>
            <a:ext cx="254000" cy="0"/>
          </a:xfrm>
          <a:prstGeom prst="line">
            <a:avLst/>
          </a:prstGeom>
          <a:ln w="22860">
            <a:solidFill>
              <a:srgbClr val="5D69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648F1AF-B99A-5206-38D3-9BDD60B48F89}"/>
              </a:ext>
            </a:extLst>
          </p:cNvPr>
          <p:cNvSpPr/>
          <p:nvPr/>
        </p:nvSpPr>
        <p:spPr>
          <a:xfrm>
            <a:off x="4254500" y="2730500"/>
            <a:ext cx="1422400" cy="736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8A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5FB4175-7490-0DE1-0D4B-1339790463A7}"/>
              </a:ext>
            </a:extLst>
          </p:cNvPr>
          <p:cNvSpPr txBox="1"/>
          <p:nvPr/>
        </p:nvSpPr>
        <p:spPr>
          <a:xfrm>
            <a:off x="4356100" y="2946400"/>
            <a:ext cx="1219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D88A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Tool Sandbox</a:t>
            </a:r>
            <a:endParaRPr lang="zh-CN" altLang="en-US" sz="1400" b="1">
              <a:solidFill>
                <a:srgbClr val="D88A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17BBCAF-36A0-F813-2B11-FF794CC8C955}"/>
              </a:ext>
            </a:extLst>
          </p:cNvPr>
          <p:cNvCxnSpPr/>
          <p:nvPr/>
        </p:nvCxnSpPr>
        <p:spPr>
          <a:xfrm>
            <a:off x="5727700" y="3098800"/>
            <a:ext cx="254000" cy="0"/>
          </a:xfrm>
          <a:prstGeom prst="line">
            <a:avLst/>
          </a:prstGeom>
          <a:ln w="22860">
            <a:solidFill>
              <a:srgbClr val="5D69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2324D36-D47A-C519-A7D2-92EA8572C46B}"/>
              </a:ext>
            </a:extLst>
          </p:cNvPr>
          <p:cNvSpPr/>
          <p:nvPr/>
        </p:nvSpPr>
        <p:spPr>
          <a:xfrm>
            <a:off x="6096000" y="2730500"/>
            <a:ext cx="1422400" cy="736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9D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D90769B-6711-4A22-EB88-7629A8DC0D7E}"/>
              </a:ext>
            </a:extLst>
          </p:cNvPr>
          <p:cNvSpPr txBox="1"/>
          <p:nvPr/>
        </p:nvSpPr>
        <p:spPr>
          <a:xfrm>
            <a:off x="6197600" y="2946400"/>
            <a:ext cx="1219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2E9D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M3 Guard</a:t>
            </a:r>
            <a:endParaRPr lang="zh-CN" altLang="en-US" sz="1400" b="1">
              <a:solidFill>
                <a:srgbClr val="2E9D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083B744-F4D6-92A8-3EDF-5514F2970E18}"/>
              </a:ext>
            </a:extLst>
          </p:cNvPr>
          <p:cNvCxnSpPr/>
          <p:nvPr/>
        </p:nvCxnSpPr>
        <p:spPr>
          <a:xfrm>
            <a:off x="7569200" y="3098800"/>
            <a:ext cx="254000" cy="0"/>
          </a:xfrm>
          <a:prstGeom prst="line">
            <a:avLst/>
          </a:prstGeom>
          <a:ln w="22860">
            <a:solidFill>
              <a:srgbClr val="5D69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F8BDF16B-353C-77D3-A16B-C00BD0FCB416}"/>
              </a:ext>
            </a:extLst>
          </p:cNvPr>
          <p:cNvSpPr/>
          <p:nvPr/>
        </p:nvSpPr>
        <p:spPr>
          <a:xfrm>
            <a:off x="7937500" y="2730500"/>
            <a:ext cx="1422400" cy="736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56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61D7565-571D-70A9-6B48-C14484074A3B}"/>
              </a:ext>
            </a:extLst>
          </p:cNvPr>
          <p:cNvSpPr txBox="1"/>
          <p:nvPr/>
        </p:nvSpPr>
        <p:spPr>
          <a:xfrm>
            <a:off x="8039100" y="2946400"/>
            <a:ext cx="1219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6956A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RunLog</a:t>
            </a:r>
            <a:endParaRPr lang="zh-CN" altLang="en-US" sz="1400" b="1">
              <a:solidFill>
                <a:srgbClr val="6956A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C435876F-1F87-F1FE-546B-5D869BBEE1E8}"/>
              </a:ext>
            </a:extLst>
          </p:cNvPr>
          <p:cNvCxnSpPr/>
          <p:nvPr/>
        </p:nvCxnSpPr>
        <p:spPr>
          <a:xfrm>
            <a:off x="9410700" y="3098800"/>
            <a:ext cx="254000" cy="0"/>
          </a:xfrm>
          <a:prstGeom prst="line">
            <a:avLst/>
          </a:prstGeom>
          <a:ln w="22860">
            <a:solidFill>
              <a:srgbClr val="5D69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20A96D9B-5DF3-40D6-EDEC-1C1CE5C15C73}"/>
              </a:ext>
            </a:extLst>
          </p:cNvPr>
          <p:cNvSpPr/>
          <p:nvPr/>
        </p:nvSpPr>
        <p:spPr>
          <a:xfrm>
            <a:off x="9779000" y="2730500"/>
            <a:ext cx="1422400" cy="736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8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ED0C0C6-F746-CA83-5350-7A4D6B9F1A12}"/>
              </a:ext>
            </a:extLst>
          </p:cNvPr>
          <p:cNvSpPr txBox="1"/>
          <p:nvPr/>
        </p:nvSpPr>
        <p:spPr>
          <a:xfrm>
            <a:off x="9880600" y="2946400"/>
            <a:ext cx="1219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118A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Dashboard</a:t>
            </a:r>
            <a:endParaRPr lang="zh-CN" altLang="en-US" sz="1400" b="1">
              <a:solidFill>
                <a:srgbClr val="118A8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37ED3DC-3BA0-F83E-5206-C2E3501B88B7}"/>
              </a:ext>
            </a:extLst>
          </p:cNvPr>
          <p:cNvSpPr/>
          <p:nvPr/>
        </p:nvSpPr>
        <p:spPr>
          <a:xfrm>
            <a:off x="1397000" y="4318000"/>
            <a:ext cx="93980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565595B-7232-27CD-B768-FB4FEDF087B8}"/>
              </a:ext>
            </a:extLst>
          </p:cNvPr>
          <p:cNvSpPr/>
          <p:nvPr/>
        </p:nvSpPr>
        <p:spPr>
          <a:xfrm>
            <a:off x="1397000" y="4318000"/>
            <a:ext cx="76200" cy="1397000"/>
          </a:xfrm>
          <a:prstGeom prst="rect">
            <a:avLst/>
          </a:prstGeom>
          <a:solidFill>
            <a:srgbClr val="6956A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61AD6E5-E667-ED02-12C8-513818775464}"/>
              </a:ext>
            </a:extLst>
          </p:cNvPr>
          <p:cNvSpPr txBox="1"/>
          <p:nvPr/>
        </p:nvSpPr>
        <p:spPr>
          <a:xfrm>
            <a:off x="1625600" y="4495800"/>
            <a:ext cx="8991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6956A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关键工程约束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96132D2-8672-05A1-882F-E4E6DE904078}"/>
              </a:ext>
            </a:extLst>
          </p:cNvPr>
          <p:cNvSpPr txBox="1"/>
          <p:nvPr/>
        </p:nvSpPr>
        <p:spPr>
          <a:xfrm>
            <a:off x="1625600" y="4953000"/>
            <a:ext cx="89916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不依赖本地大模型作为裁判，不调用远程评审接口
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工具为本地模拟：文件、邮件、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API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与代码执行均可复现
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指标按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attack_family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carrier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language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severity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model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defense_mode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分组</a:t>
            </a:r>
          </a:p>
        </p:txBody>
      </p:sp>
    </p:spTree>
    <p:extLst>
      <p:ext uri="{BB962C8B-B14F-4D97-AF65-F5344CB8AC3E}">
        <p14:creationId xmlns:p14="http://schemas.microsoft.com/office/powerpoint/2010/main" val="3611550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10332B6-F8AC-D5D6-DAEB-2CC87D2A00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92111A-1100-1E81-E2CF-C7B1BA1E7A9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4C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F3CAFE2-1486-3C77-D1FB-43C480C6597F}"/>
              </a:ext>
            </a:extLst>
          </p:cNvPr>
          <p:cNvSpPr txBox="1"/>
          <p:nvPr/>
        </p:nvSpPr>
        <p:spPr>
          <a:xfrm>
            <a:off x="609600" y="2921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D94C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M3-PI Guard</a:t>
            </a:r>
            <a:endParaRPr lang="zh-CN" altLang="en-US" sz="1200" b="1">
              <a:solidFill>
                <a:srgbClr val="D94C4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38F2BA7-A875-7F6F-4C00-19E565211670}"/>
              </a:ext>
            </a:extLst>
          </p:cNvPr>
          <p:cNvSpPr txBox="1"/>
          <p:nvPr/>
        </p:nvSpPr>
        <p:spPr>
          <a:xfrm>
            <a:off x="609600" y="660400"/>
            <a:ext cx="914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攻击样本：覆盖常规与结构化提示注入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C7D7135-6550-7358-169A-77D88BE7C424}"/>
              </a:ext>
            </a:extLst>
          </p:cNvPr>
          <p:cNvCxnSpPr/>
          <p:nvPr/>
        </p:nvCxnSpPr>
        <p:spPr>
          <a:xfrm>
            <a:off x="609600" y="6070600"/>
            <a:ext cx="10185400" cy="0"/>
          </a:xfrm>
          <a:prstGeom prst="line">
            <a:avLst/>
          </a:prstGeom>
          <a:ln w="12700">
            <a:solidFill>
              <a:srgbClr val="D9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E7571CB3-0B64-F4AA-D5F3-1727E2E0787D}"/>
              </a:ext>
            </a:extLst>
          </p:cNvPr>
          <p:cNvSpPr txBox="1"/>
          <p:nvPr/>
        </p:nvSpPr>
        <p:spPr>
          <a:xfrm>
            <a:off x="11150600" y="6146800"/>
            <a:ext cx="63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200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1200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361DD28-FD62-0A20-4A2E-39E6C4F3B1D0}"/>
              </a:ext>
            </a:extLst>
          </p:cNvPr>
          <p:cNvSpPr/>
          <p:nvPr/>
        </p:nvSpPr>
        <p:spPr>
          <a:xfrm>
            <a:off x="762000" y="1524000"/>
            <a:ext cx="31115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6B7064-890A-73DE-0012-BCA19373214C}"/>
              </a:ext>
            </a:extLst>
          </p:cNvPr>
          <p:cNvSpPr/>
          <p:nvPr/>
        </p:nvSpPr>
        <p:spPr>
          <a:xfrm>
            <a:off x="762000" y="1524000"/>
            <a:ext cx="76200" cy="1117600"/>
          </a:xfrm>
          <a:prstGeom prst="rect">
            <a:avLst/>
          </a:prstGeom>
          <a:solidFill>
            <a:srgbClr val="D94C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CFC7DAD-1857-2460-1F0C-E88D2A0A2358}"/>
              </a:ext>
            </a:extLst>
          </p:cNvPr>
          <p:cNvSpPr txBox="1"/>
          <p:nvPr/>
        </p:nvSpPr>
        <p:spPr>
          <a:xfrm>
            <a:off x="990600" y="1701800"/>
            <a:ext cx="2705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D94C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RAG indirect</a:t>
            </a:r>
            <a:endParaRPr lang="zh-CN" altLang="en-US" sz="1600" b="1">
              <a:solidFill>
                <a:srgbClr val="D94C4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715034A-7F1D-5CDD-2A49-A7EC7DF3F31A}"/>
              </a:ext>
            </a:extLst>
          </p:cNvPr>
          <p:cNvSpPr txBox="1"/>
          <p:nvPr/>
        </p:nvSpPr>
        <p:spPr>
          <a:xfrm>
            <a:off x="990600" y="2159000"/>
            <a:ext cx="27051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文档中隐藏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read_file / send_email</a:t>
            </a:r>
            <a:endParaRPr lang="zh-CN" altLang="en-US" sz="1500">
              <a:solidFill>
                <a:srgbClr val="1720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184AE88-E39F-DD85-CEDC-F651263F12B2}"/>
              </a:ext>
            </a:extLst>
          </p:cNvPr>
          <p:cNvSpPr/>
          <p:nvPr/>
        </p:nvSpPr>
        <p:spPr>
          <a:xfrm>
            <a:off x="4470400" y="1524000"/>
            <a:ext cx="31115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6171C99-5B04-EEC1-0CF0-9A5862A46F47}"/>
              </a:ext>
            </a:extLst>
          </p:cNvPr>
          <p:cNvSpPr/>
          <p:nvPr/>
        </p:nvSpPr>
        <p:spPr>
          <a:xfrm>
            <a:off x="4470400" y="1524000"/>
            <a:ext cx="76200" cy="11176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C5C59D5-31A7-F274-64FF-CF1DE120B8F8}"/>
              </a:ext>
            </a:extLst>
          </p:cNvPr>
          <p:cNvSpPr txBox="1"/>
          <p:nvPr/>
        </p:nvSpPr>
        <p:spPr>
          <a:xfrm>
            <a:off x="4699000" y="1701800"/>
            <a:ext cx="2705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2C5A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JSON/RPC</a:t>
            </a:r>
            <a:endParaRPr lang="zh-CN" altLang="en-US" sz="1600" b="1">
              <a:solidFill>
                <a:srgbClr val="2C5A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8216E05-035F-7835-415C-E822FCF93B82}"/>
              </a:ext>
            </a:extLst>
          </p:cNvPr>
          <p:cNvSpPr txBox="1"/>
          <p:nvPr/>
        </p:nvSpPr>
        <p:spPr>
          <a:xfrm>
            <a:off x="4699000" y="2159000"/>
            <a:ext cx="27051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method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params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execute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next_step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字段诱导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855033E-F48D-167A-3D57-6169D4C41B3C}"/>
              </a:ext>
            </a:extLst>
          </p:cNvPr>
          <p:cNvSpPr/>
          <p:nvPr/>
        </p:nvSpPr>
        <p:spPr>
          <a:xfrm>
            <a:off x="8178800" y="1524000"/>
            <a:ext cx="31115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282854-9493-8F7E-F71E-59060DF17F54}"/>
              </a:ext>
            </a:extLst>
          </p:cNvPr>
          <p:cNvSpPr/>
          <p:nvPr/>
        </p:nvSpPr>
        <p:spPr>
          <a:xfrm>
            <a:off x="8178800" y="1524000"/>
            <a:ext cx="76200" cy="1117600"/>
          </a:xfrm>
          <a:prstGeom prst="rect">
            <a:avLst/>
          </a:prstGeom>
          <a:solidFill>
            <a:srgbClr val="D88A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0959E44-1C25-05BE-8E03-F20AEF1058F2}"/>
              </a:ext>
            </a:extLst>
          </p:cNvPr>
          <p:cNvSpPr txBox="1"/>
          <p:nvPr/>
        </p:nvSpPr>
        <p:spPr>
          <a:xfrm>
            <a:off x="8407400" y="1701800"/>
            <a:ext cx="2705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D88A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multilingual / T2L</a:t>
            </a:r>
            <a:endParaRPr lang="zh-CN" altLang="en-US" sz="1600" b="1">
              <a:solidFill>
                <a:srgbClr val="D88A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B7032F1-3029-D391-A9E6-EFF346D5144F}"/>
              </a:ext>
            </a:extLst>
          </p:cNvPr>
          <p:cNvSpPr txBox="1"/>
          <p:nvPr/>
        </p:nvSpPr>
        <p:spPr>
          <a:xfrm>
            <a:off x="8407400" y="2159000"/>
            <a:ext cx="27051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中英混合、拼音、字符混淆规避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54639EA-AAFD-E4AF-91AD-90142FB78644}"/>
              </a:ext>
            </a:extLst>
          </p:cNvPr>
          <p:cNvSpPr/>
          <p:nvPr/>
        </p:nvSpPr>
        <p:spPr>
          <a:xfrm>
            <a:off x="762000" y="3175000"/>
            <a:ext cx="31115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B47551C-F30E-17D8-C683-4DE0CD08662F}"/>
              </a:ext>
            </a:extLst>
          </p:cNvPr>
          <p:cNvSpPr/>
          <p:nvPr/>
        </p:nvSpPr>
        <p:spPr>
          <a:xfrm>
            <a:off x="762000" y="3175000"/>
            <a:ext cx="76200" cy="1117600"/>
          </a:xfrm>
          <a:prstGeom prst="rect">
            <a:avLst/>
          </a:prstGeom>
          <a:solidFill>
            <a:srgbClr val="2E9D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E3C0121-F72C-82AA-A0B2-7B05BA6D5AE9}"/>
              </a:ext>
            </a:extLst>
          </p:cNvPr>
          <p:cNvSpPr txBox="1"/>
          <p:nvPr/>
        </p:nvSpPr>
        <p:spPr>
          <a:xfrm>
            <a:off x="990600" y="3352800"/>
            <a:ext cx="2705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2E9D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tool output injection</a:t>
            </a:r>
            <a:endParaRPr lang="zh-CN" altLang="en-US" sz="1600" b="1">
              <a:solidFill>
                <a:srgbClr val="2E9D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A2DEB03-00C8-7517-F6FA-DAA797B9CA1B}"/>
              </a:ext>
            </a:extLst>
          </p:cNvPr>
          <p:cNvSpPr txBox="1"/>
          <p:nvPr/>
        </p:nvSpPr>
        <p:spPr>
          <a:xfrm>
            <a:off x="990600" y="3810000"/>
            <a:ext cx="27051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observation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中追加后续指令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8986ABE-4D12-A3E6-958B-8773C2247674}"/>
              </a:ext>
            </a:extLst>
          </p:cNvPr>
          <p:cNvSpPr/>
          <p:nvPr/>
        </p:nvSpPr>
        <p:spPr>
          <a:xfrm>
            <a:off x="4470400" y="3175000"/>
            <a:ext cx="31115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2D4D2E4-6989-E5F0-DF7F-3ACCE5630B6E}"/>
              </a:ext>
            </a:extLst>
          </p:cNvPr>
          <p:cNvSpPr/>
          <p:nvPr/>
        </p:nvSpPr>
        <p:spPr>
          <a:xfrm>
            <a:off x="4470400" y="3175000"/>
            <a:ext cx="76200" cy="1117600"/>
          </a:xfrm>
          <a:prstGeom prst="rect">
            <a:avLst/>
          </a:prstGeom>
          <a:solidFill>
            <a:srgbClr val="6956A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37852AE-A799-4F29-B56E-DFFC1989AB07}"/>
              </a:ext>
            </a:extLst>
          </p:cNvPr>
          <p:cNvSpPr txBox="1"/>
          <p:nvPr/>
        </p:nvSpPr>
        <p:spPr>
          <a:xfrm>
            <a:off x="4699000" y="3352800"/>
            <a:ext cx="2705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6956A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direct jailbreak</a:t>
            </a:r>
            <a:endParaRPr lang="zh-CN" altLang="en-US" sz="1600" b="1">
              <a:solidFill>
                <a:srgbClr val="6956A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19D8B89-7E76-728B-EF69-34AD489FBCDA}"/>
              </a:ext>
            </a:extLst>
          </p:cNvPr>
          <p:cNvSpPr txBox="1"/>
          <p:nvPr/>
        </p:nvSpPr>
        <p:spPr>
          <a:xfrm>
            <a:off x="4699000" y="3810000"/>
            <a:ext cx="27051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直接要求忽略规则或维护模式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967CE59-2F01-D6C3-62BA-92CD94E393B8}"/>
              </a:ext>
            </a:extLst>
          </p:cNvPr>
          <p:cNvSpPr/>
          <p:nvPr/>
        </p:nvSpPr>
        <p:spPr>
          <a:xfrm>
            <a:off x="8178800" y="3175000"/>
            <a:ext cx="31115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AD38371-6E0B-9ECF-D0D1-1D45AEF5E52F}"/>
              </a:ext>
            </a:extLst>
          </p:cNvPr>
          <p:cNvSpPr/>
          <p:nvPr/>
        </p:nvSpPr>
        <p:spPr>
          <a:xfrm>
            <a:off x="8178800" y="3175000"/>
            <a:ext cx="76200" cy="1117600"/>
          </a:xfrm>
          <a:prstGeom prst="rect">
            <a:avLst/>
          </a:prstGeom>
          <a:solidFill>
            <a:srgbClr val="118A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859AFEA-A230-DB68-D02D-1B82907F86BC}"/>
              </a:ext>
            </a:extLst>
          </p:cNvPr>
          <p:cNvSpPr txBox="1"/>
          <p:nvPr/>
        </p:nvSpPr>
        <p:spPr>
          <a:xfrm>
            <a:off x="8407400" y="3352800"/>
            <a:ext cx="2705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118A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benign clean</a:t>
            </a:r>
            <a:endParaRPr lang="zh-CN" altLang="en-US" sz="1600" b="1">
              <a:solidFill>
                <a:srgbClr val="118A8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4A04326-7116-B14F-6483-A3A70EFE3964}"/>
              </a:ext>
            </a:extLst>
          </p:cNvPr>
          <p:cNvSpPr txBox="1"/>
          <p:nvPr/>
        </p:nvSpPr>
        <p:spPr>
          <a:xfrm>
            <a:off x="8407400" y="3810000"/>
            <a:ext cx="27051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用于观察误报与正常可用性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AD75F52-FB13-CFD9-810E-0FA7EA0FFB89}"/>
              </a:ext>
            </a:extLst>
          </p:cNvPr>
          <p:cNvSpPr txBox="1"/>
          <p:nvPr/>
        </p:nvSpPr>
        <p:spPr>
          <a:xfrm>
            <a:off x="825500" y="5461000"/>
            <a:ext cx="10033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样本不仅测试关键词命中，也测试载体、语言、结构字段和工具输出之间的组合攻击。</a:t>
            </a:r>
          </a:p>
        </p:txBody>
      </p:sp>
    </p:spTree>
    <p:extLst>
      <p:ext uri="{BB962C8B-B14F-4D97-AF65-F5344CB8AC3E}">
        <p14:creationId xmlns:p14="http://schemas.microsoft.com/office/powerpoint/2010/main" val="4065838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7480DCD-97CB-EC85-8FAB-F196B45FB0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1C9D61-6D6F-DC9E-8007-2E0C77DAFF12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4C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21C8BB-0923-F394-05C8-D2D37F39260C}"/>
              </a:ext>
            </a:extLst>
          </p:cNvPr>
          <p:cNvSpPr txBox="1"/>
          <p:nvPr/>
        </p:nvSpPr>
        <p:spPr>
          <a:xfrm>
            <a:off x="609600" y="2921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D94C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M3-PI Guard</a:t>
            </a:r>
            <a:endParaRPr lang="zh-CN" altLang="en-US" sz="1200" b="1">
              <a:solidFill>
                <a:srgbClr val="D94C4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46EFB8A-C49B-07AD-D034-012261FD38AE}"/>
              </a:ext>
            </a:extLst>
          </p:cNvPr>
          <p:cNvSpPr txBox="1"/>
          <p:nvPr/>
        </p:nvSpPr>
        <p:spPr>
          <a:xfrm>
            <a:off x="609600" y="660400"/>
            <a:ext cx="914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5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25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靶场：可复现的工具调用实验环境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B64E5C9-DE89-4996-138D-60DF3150A86B}"/>
              </a:ext>
            </a:extLst>
          </p:cNvPr>
          <p:cNvCxnSpPr/>
          <p:nvPr/>
        </p:nvCxnSpPr>
        <p:spPr>
          <a:xfrm>
            <a:off x="609600" y="6070600"/>
            <a:ext cx="10185400" cy="0"/>
          </a:xfrm>
          <a:prstGeom prst="line">
            <a:avLst/>
          </a:prstGeom>
          <a:ln w="12700">
            <a:solidFill>
              <a:srgbClr val="D9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F3412811-F5BF-66D1-B648-5979BB1BCD63}"/>
              </a:ext>
            </a:extLst>
          </p:cNvPr>
          <p:cNvSpPr txBox="1"/>
          <p:nvPr/>
        </p:nvSpPr>
        <p:spPr>
          <a:xfrm>
            <a:off x="11150600" y="6146800"/>
            <a:ext cx="63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200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endParaRPr lang="zh-CN" altLang="en-US" sz="1200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5F89CFB-1610-B0D2-3956-B04DEC6687A0}"/>
              </a:ext>
            </a:extLst>
          </p:cNvPr>
          <p:cNvSpPr/>
          <p:nvPr/>
        </p:nvSpPr>
        <p:spPr>
          <a:xfrm>
            <a:off x="698500" y="1524000"/>
            <a:ext cx="4953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A768EF0-0543-2101-E546-AF15283DE7A0}"/>
              </a:ext>
            </a:extLst>
          </p:cNvPr>
          <p:cNvSpPr/>
          <p:nvPr/>
        </p:nvSpPr>
        <p:spPr>
          <a:xfrm>
            <a:off x="698500" y="1524000"/>
            <a:ext cx="76200" cy="31750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BD194BE-DA89-F056-B01D-4F1E983CF061}"/>
              </a:ext>
            </a:extLst>
          </p:cNvPr>
          <p:cNvSpPr txBox="1"/>
          <p:nvPr/>
        </p:nvSpPr>
        <p:spPr>
          <a:xfrm>
            <a:off x="927100" y="1701800"/>
            <a:ext cx="4546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2C5A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靶场对象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2DC1DE-7461-0B97-234B-A5BDB891BA07}"/>
              </a:ext>
            </a:extLst>
          </p:cNvPr>
          <p:cNvSpPr txBox="1"/>
          <p:nvPr/>
        </p:nvSpPr>
        <p:spPr>
          <a:xfrm>
            <a:off x="927100" y="2159000"/>
            <a:ext cx="45466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AttackCase JSONL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：用户任务、载体、标签与期望风险
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RunLog JSONL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：模型输出、工具调用、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Guard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决策与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observation
• Tool Sandbox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public/secrets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文件区、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mock endpoint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outbox</a:t>
            </a:r>
            <a:endParaRPr lang="zh-CN" altLang="en-US" sz="1500">
              <a:solidFill>
                <a:srgbClr val="1720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CA00627-460C-CB38-2213-DC9ECD8AE9B7}"/>
              </a:ext>
            </a:extLst>
          </p:cNvPr>
          <p:cNvSpPr/>
          <p:nvPr/>
        </p:nvSpPr>
        <p:spPr>
          <a:xfrm>
            <a:off x="6540500" y="1524000"/>
            <a:ext cx="4953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6920EB6-C8A8-3909-3B0B-F9306613C607}"/>
              </a:ext>
            </a:extLst>
          </p:cNvPr>
          <p:cNvSpPr/>
          <p:nvPr/>
        </p:nvSpPr>
        <p:spPr>
          <a:xfrm>
            <a:off x="6540500" y="1524000"/>
            <a:ext cx="76200" cy="3175000"/>
          </a:xfrm>
          <a:prstGeom prst="rect">
            <a:avLst/>
          </a:prstGeom>
          <a:solidFill>
            <a:srgbClr val="118A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4B64B19-B93D-CA54-1D71-2AF16B1A45C0}"/>
              </a:ext>
            </a:extLst>
          </p:cNvPr>
          <p:cNvSpPr txBox="1"/>
          <p:nvPr/>
        </p:nvSpPr>
        <p:spPr>
          <a:xfrm>
            <a:off x="6769100" y="1701800"/>
            <a:ext cx="4546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18A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演示路径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7EBEB4B-D5ED-4392-0E36-191FB57EB915}"/>
              </a:ext>
            </a:extLst>
          </p:cNvPr>
          <p:cNvSpPr txBox="1"/>
          <p:nvPr/>
        </p:nvSpPr>
        <p:spPr>
          <a:xfrm>
            <a:off x="6769100" y="2159000"/>
            <a:ext cx="45466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baseline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：观察攻击如何诱导外发或越权工具调用
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full_guard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：展示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deny / ask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reasons
• Dashboard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：从总体指标跳转到单案例回放</a:t>
            </a:r>
          </a:p>
        </p:txBody>
      </p:sp>
    </p:spTree>
    <p:extLst>
      <p:ext uri="{BB962C8B-B14F-4D97-AF65-F5344CB8AC3E}">
        <p14:creationId xmlns:p14="http://schemas.microsoft.com/office/powerpoint/2010/main" val="3226983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5C1A161-33B2-0F8B-E68B-ED3B9ABBC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B8546D-2B49-66DB-9B50-63378DF5A4EC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4C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65F44DF-9CFE-6B62-94B6-0E6A1484F406}"/>
              </a:ext>
            </a:extLst>
          </p:cNvPr>
          <p:cNvSpPr txBox="1"/>
          <p:nvPr/>
        </p:nvSpPr>
        <p:spPr>
          <a:xfrm>
            <a:off x="609600" y="2921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D94C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M3-PI Guard</a:t>
            </a:r>
            <a:endParaRPr lang="zh-CN" altLang="en-US" sz="1200" b="1">
              <a:solidFill>
                <a:srgbClr val="D94C4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69FCE5D-9634-4715-9768-92638A598B81}"/>
              </a:ext>
            </a:extLst>
          </p:cNvPr>
          <p:cNvSpPr txBox="1"/>
          <p:nvPr/>
        </p:nvSpPr>
        <p:spPr>
          <a:xfrm>
            <a:off x="609600" y="660400"/>
            <a:ext cx="914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5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Guard</a:t>
            </a:r>
            <a:r>
              <a:rPr lang="zh-CN" altLang="en-US" sz="25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：行为监督而不是只做文本拒答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0674F3D-7BE4-5EA6-A007-70CEF8193408}"/>
              </a:ext>
            </a:extLst>
          </p:cNvPr>
          <p:cNvCxnSpPr/>
          <p:nvPr/>
        </p:nvCxnSpPr>
        <p:spPr>
          <a:xfrm>
            <a:off x="609600" y="6070600"/>
            <a:ext cx="10185400" cy="0"/>
          </a:xfrm>
          <a:prstGeom prst="line">
            <a:avLst/>
          </a:prstGeom>
          <a:ln w="12700">
            <a:solidFill>
              <a:srgbClr val="D9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678697B4-1A8A-463B-FF99-75615A05CEA9}"/>
              </a:ext>
            </a:extLst>
          </p:cNvPr>
          <p:cNvSpPr txBox="1"/>
          <p:nvPr/>
        </p:nvSpPr>
        <p:spPr>
          <a:xfrm>
            <a:off x="11150600" y="6146800"/>
            <a:ext cx="63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200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</a:t>
            </a:r>
            <a:endParaRPr lang="zh-CN" altLang="en-US" sz="1200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9F92400-47B7-9EAD-EE12-7DBEC0A2FD2D}"/>
              </a:ext>
            </a:extLst>
          </p:cNvPr>
          <p:cNvSpPr/>
          <p:nvPr/>
        </p:nvSpPr>
        <p:spPr>
          <a:xfrm>
            <a:off x="698500" y="1905000"/>
            <a:ext cx="1651000" cy="736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A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560467-644B-EECF-47EA-76DDEE4B0EFF}"/>
              </a:ext>
            </a:extLst>
          </p:cNvPr>
          <p:cNvSpPr txBox="1"/>
          <p:nvPr/>
        </p:nvSpPr>
        <p:spPr>
          <a:xfrm>
            <a:off x="800100" y="2120900"/>
            <a:ext cx="1447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2C5A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normalizer</a:t>
            </a:r>
            <a:endParaRPr lang="zh-CN" altLang="en-US" sz="1400" b="1">
              <a:solidFill>
                <a:srgbClr val="2C5A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A826810-6A2E-7486-B44B-457D6F64B096}"/>
              </a:ext>
            </a:extLst>
          </p:cNvPr>
          <p:cNvCxnSpPr/>
          <p:nvPr/>
        </p:nvCxnSpPr>
        <p:spPr>
          <a:xfrm>
            <a:off x="2400300" y="2286000"/>
            <a:ext cx="457200" cy="0"/>
          </a:xfrm>
          <a:prstGeom prst="line">
            <a:avLst/>
          </a:prstGeom>
          <a:ln w="22860">
            <a:solidFill>
              <a:srgbClr val="5D69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869FF87-A7F6-B585-3949-32DA97361500}"/>
              </a:ext>
            </a:extLst>
          </p:cNvPr>
          <p:cNvSpPr/>
          <p:nvPr/>
        </p:nvSpPr>
        <p:spPr>
          <a:xfrm>
            <a:off x="2984500" y="1905000"/>
            <a:ext cx="1651000" cy="736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56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309C977-866E-59EE-37AD-4E26D7B9E47A}"/>
              </a:ext>
            </a:extLst>
          </p:cNvPr>
          <p:cNvSpPr txBox="1"/>
          <p:nvPr/>
        </p:nvSpPr>
        <p:spPr>
          <a:xfrm>
            <a:off x="3086100" y="2120900"/>
            <a:ext cx="1447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6956A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detector</a:t>
            </a:r>
            <a:endParaRPr lang="zh-CN" altLang="en-US" sz="1400" b="1">
              <a:solidFill>
                <a:srgbClr val="6956A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8DED377-DE7F-D22D-236F-1EAC30795D8F}"/>
              </a:ext>
            </a:extLst>
          </p:cNvPr>
          <p:cNvCxnSpPr/>
          <p:nvPr/>
        </p:nvCxnSpPr>
        <p:spPr>
          <a:xfrm>
            <a:off x="4686300" y="2286000"/>
            <a:ext cx="457200" cy="0"/>
          </a:xfrm>
          <a:prstGeom prst="line">
            <a:avLst/>
          </a:prstGeom>
          <a:ln w="22860">
            <a:solidFill>
              <a:srgbClr val="5D69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0CCDC88-9DC4-04E2-026C-93B77305EA99}"/>
              </a:ext>
            </a:extLst>
          </p:cNvPr>
          <p:cNvSpPr/>
          <p:nvPr/>
        </p:nvSpPr>
        <p:spPr>
          <a:xfrm>
            <a:off x="5270500" y="1905000"/>
            <a:ext cx="1651000" cy="736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8A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B3782A1-DD63-D16E-0558-3D45C27917A6}"/>
              </a:ext>
            </a:extLst>
          </p:cNvPr>
          <p:cNvSpPr txBox="1"/>
          <p:nvPr/>
        </p:nvSpPr>
        <p:spPr>
          <a:xfrm>
            <a:off x="5372100" y="2120900"/>
            <a:ext cx="1447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D88A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policy</a:t>
            </a:r>
            <a:endParaRPr lang="zh-CN" altLang="en-US" sz="1400" b="1">
              <a:solidFill>
                <a:srgbClr val="D88A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9CC047D-2162-5FC9-7649-8197573802E3}"/>
              </a:ext>
            </a:extLst>
          </p:cNvPr>
          <p:cNvCxnSpPr/>
          <p:nvPr/>
        </p:nvCxnSpPr>
        <p:spPr>
          <a:xfrm>
            <a:off x="6972300" y="2286000"/>
            <a:ext cx="457200" cy="0"/>
          </a:xfrm>
          <a:prstGeom prst="line">
            <a:avLst/>
          </a:prstGeom>
          <a:ln w="22860">
            <a:solidFill>
              <a:srgbClr val="5D69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02FC1F6-D67A-F31B-2111-3519CD4D2BB7}"/>
              </a:ext>
            </a:extLst>
          </p:cNvPr>
          <p:cNvSpPr/>
          <p:nvPr/>
        </p:nvSpPr>
        <p:spPr>
          <a:xfrm>
            <a:off x="7556500" y="1905000"/>
            <a:ext cx="1651000" cy="736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8A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A975699-A7D2-1D2D-044A-501B0F341C89}"/>
              </a:ext>
            </a:extLst>
          </p:cNvPr>
          <p:cNvSpPr txBox="1"/>
          <p:nvPr/>
        </p:nvSpPr>
        <p:spPr>
          <a:xfrm>
            <a:off x="7658100" y="2120900"/>
            <a:ext cx="1447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118A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dataflow</a:t>
            </a:r>
            <a:endParaRPr lang="zh-CN" altLang="en-US" sz="1400" b="1">
              <a:solidFill>
                <a:srgbClr val="118A8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5F6847F-E661-9ACF-97B1-5FFB2DE5463A}"/>
              </a:ext>
            </a:extLst>
          </p:cNvPr>
          <p:cNvCxnSpPr/>
          <p:nvPr/>
        </p:nvCxnSpPr>
        <p:spPr>
          <a:xfrm>
            <a:off x="9258300" y="2286000"/>
            <a:ext cx="457200" cy="0"/>
          </a:xfrm>
          <a:prstGeom prst="line">
            <a:avLst/>
          </a:prstGeom>
          <a:ln w="22860">
            <a:solidFill>
              <a:srgbClr val="5D697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8E077F9-9056-0F03-05AF-8BFABC1AD94C}"/>
              </a:ext>
            </a:extLst>
          </p:cNvPr>
          <p:cNvSpPr/>
          <p:nvPr/>
        </p:nvSpPr>
        <p:spPr>
          <a:xfrm>
            <a:off x="9842500" y="1905000"/>
            <a:ext cx="1651000" cy="736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4C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CA86C93-8AA5-DB98-8E7F-301F2F024C3C}"/>
              </a:ext>
            </a:extLst>
          </p:cNvPr>
          <p:cNvSpPr txBox="1"/>
          <p:nvPr/>
        </p:nvSpPr>
        <p:spPr>
          <a:xfrm>
            <a:off x="9944100" y="2120900"/>
            <a:ext cx="1447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D94C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engine</a:t>
            </a:r>
            <a:endParaRPr lang="zh-CN" altLang="en-US" sz="1400" b="1">
              <a:solidFill>
                <a:srgbClr val="D94C4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8EE7FDE-0813-2E50-0408-2B94A178134B}"/>
              </a:ext>
            </a:extLst>
          </p:cNvPr>
          <p:cNvSpPr/>
          <p:nvPr/>
        </p:nvSpPr>
        <p:spPr>
          <a:xfrm>
            <a:off x="762000" y="3492500"/>
            <a:ext cx="4953000" cy="196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B110490-C7EF-A6D3-1FE3-712027E2E213}"/>
              </a:ext>
            </a:extLst>
          </p:cNvPr>
          <p:cNvSpPr/>
          <p:nvPr/>
        </p:nvSpPr>
        <p:spPr>
          <a:xfrm>
            <a:off x="762000" y="3492500"/>
            <a:ext cx="76200" cy="1968500"/>
          </a:xfrm>
          <a:prstGeom prst="rect">
            <a:avLst/>
          </a:prstGeom>
          <a:solidFill>
            <a:srgbClr val="6956A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879D752-6B47-998D-C211-1FF7EE7AD7ED}"/>
              </a:ext>
            </a:extLst>
          </p:cNvPr>
          <p:cNvSpPr txBox="1"/>
          <p:nvPr/>
        </p:nvSpPr>
        <p:spPr>
          <a:xfrm>
            <a:off x="990600" y="3670300"/>
            <a:ext cx="4546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6956A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检测信号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6A8E204-2860-BE1E-DEF3-63956049EDF1}"/>
              </a:ext>
            </a:extLst>
          </p:cNvPr>
          <p:cNvSpPr txBox="1"/>
          <p:nvPr/>
        </p:nvSpPr>
        <p:spPr>
          <a:xfrm>
            <a:off x="990600" y="4127500"/>
            <a:ext cx="45466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Unicode NFKC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、零宽字符、全角半角、多语言混淆
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指令型文本、工具诱导词、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JSON/RPC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注入字段
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secret/canary/token/password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数据流入外发工具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FFB4D25C-9E46-E0DA-3723-BC7B457093A1}"/>
              </a:ext>
            </a:extLst>
          </p:cNvPr>
          <p:cNvSpPr/>
          <p:nvPr/>
        </p:nvSpPr>
        <p:spPr>
          <a:xfrm>
            <a:off x="6477000" y="3492500"/>
            <a:ext cx="4953000" cy="196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E25B619-1E60-94AD-E922-0ECD3A95F66F}"/>
              </a:ext>
            </a:extLst>
          </p:cNvPr>
          <p:cNvSpPr/>
          <p:nvPr/>
        </p:nvSpPr>
        <p:spPr>
          <a:xfrm>
            <a:off x="6477000" y="3492500"/>
            <a:ext cx="76200" cy="1968500"/>
          </a:xfrm>
          <a:prstGeom prst="rect">
            <a:avLst/>
          </a:prstGeom>
          <a:solidFill>
            <a:srgbClr val="D94C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6D28AB2-E2E1-3CD7-58CD-89DBDAB274AB}"/>
              </a:ext>
            </a:extLst>
          </p:cNvPr>
          <p:cNvSpPr txBox="1"/>
          <p:nvPr/>
        </p:nvSpPr>
        <p:spPr>
          <a:xfrm>
            <a:off x="6705600" y="3670300"/>
            <a:ext cx="4546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D94C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策略输出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F22DA1C-BAEC-590E-DD72-2E19D8D1DED3}"/>
              </a:ext>
            </a:extLst>
          </p:cNvPr>
          <p:cNvSpPr txBox="1"/>
          <p:nvPr/>
        </p:nvSpPr>
        <p:spPr>
          <a:xfrm>
            <a:off x="6705600" y="4127500"/>
            <a:ext cx="45466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final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默认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allow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run_code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强制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deny
• read_file secrets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、非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sandbox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路径、非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mock endpoint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强制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deny
• send_email / call_api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默认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ask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，携带敏感数据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deny</a:t>
            </a:r>
            <a:endParaRPr lang="zh-CN" altLang="en-US" sz="1500">
              <a:solidFill>
                <a:srgbClr val="1720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3226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D67C8CD-5918-68C6-9976-FEF36DAB0A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706786-BEDD-AB7B-C1B4-E9A7013856C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4C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650EF3-1CA1-DE38-86EF-D56CD37FD592}"/>
              </a:ext>
            </a:extLst>
          </p:cNvPr>
          <p:cNvSpPr txBox="1"/>
          <p:nvPr/>
        </p:nvSpPr>
        <p:spPr>
          <a:xfrm>
            <a:off x="609600" y="2921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D94C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M3-PI Guard</a:t>
            </a:r>
            <a:endParaRPr lang="zh-CN" altLang="en-US" sz="1200" b="1">
              <a:solidFill>
                <a:srgbClr val="D94C4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5D44E7-8E30-F298-EE6A-84D902177039}"/>
              </a:ext>
            </a:extLst>
          </p:cNvPr>
          <p:cNvSpPr txBox="1"/>
          <p:nvPr/>
        </p:nvSpPr>
        <p:spPr>
          <a:xfrm>
            <a:off x="609600" y="660400"/>
            <a:ext cx="914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实验指标：从攻击、泄漏、可用性三侧评价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62419DB-49FC-E0D8-F5EC-795FA6C0073B}"/>
              </a:ext>
            </a:extLst>
          </p:cNvPr>
          <p:cNvCxnSpPr/>
          <p:nvPr/>
        </p:nvCxnSpPr>
        <p:spPr>
          <a:xfrm>
            <a:off x="609600" y="6070600"/>
            <a:ext cx="10185400" cy="0"/>
          </a:xfrm>
          <a:prstGeom prst="line">
            <a:avLst/>
          </a:prstGeom>
          <a:ln w="12700">
            <a:solidFill>
              <a:srgbClr val="D9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7EA32D67-8E10-496C-E719-66DAEEC86D04}"/>
              </a:ext>
            </a:extLst>
          </p:cNvPr>
          <p:cNvSpPr txBox="1"/>
          <p:nvPr/>
        </p:nvSpPr>
        <p:spPr>
          <a:xfrm>
            <a:off x="11150600" y="6146800"/>
            <a:ext cx="63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200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</a:t>
            </a:r>
            <a:endParaRPr lang="zh-CN" altLang="en-US" sz="1200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8DE11E9-EF5E-C4BB-0B86-DF0844EE4BF9}"/>
              </a:ext>
            </a:extLst>
          </p:cNvPr>
          <p:cNvSpPr/>
          <p:nvPr/>
        </p:nvSpPr>
        <p:spPr>
          <a:xfrm>
            <a:off x="825500" y="1587500"/>
            <a:ext cx="304800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4A16467-C638-B0B2-3F50-588A856056A5}"/>
              </a:ext>
            </a:extLst>
          </p:cNvPr>
          <p:cNvSpPr txBox="1"/>
          <p:nvPr/>
        </p:nvSpPr>
        <p:spPr>
          <a:xfrm>
            <a:off x="1054100" y="1790700"/>
            <a:ext cx="762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300" b="1">
                <a:solidFill>
                  <a:srgbClr val="D94C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ASR</a:t>
            </a:r>
            <a:endParaRPr lang="zh-CN" altLang="en-US" sz="2300" b="1">
              <a:solidFill>
                <a:srgbClr val="D94C4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4A85CD3-5304-8709-7622-DD339E758635}"/>
              </a:ext>
            </a:extLst>
          </p:cNvPr>
          <p:cNvSpPr txBox="1"/>
          <p:nvPr/>
        </p:nvSpPr>
        <p:spPr>
          <a:xfrm>
            <a:off x="1866900" y="1892300"/>
            <a:ext cx="1714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攻击成功率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82AD76B-8A1B-E627-83E8-6749507B7AF9}"/>
              </a:ext>
            </a:extLst>
          </p:cNvPr>
          <p:cNvSpPr/>
          <p:nvPr/>
        </p:nvSpPr>
        <p:spPr>
          <a:xfrm>
            <a:off x="4533900" y="1587500"/>
            <a:ext cx="304800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6F3E114-E01E-64D9-9B9D-5D9EB6977459}"/>
              </a:ext>
            </a:extLst>
          </p:cNvPr>
          <p:cNvSpPr txBox="1"/>
          <p:nvPr/>
        </p:nvSpPr>
        <p:spPr>
          <a:xfrm>
            <a:off x="4762500" y="1790700"/>
            <a:ext cx="762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300" b="1">
                <a:solidFill>
                  <a:srgbClr val="D88A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UTR</a:t>
            </a:r>
            <a:endParaRPr lang="zh-CN" altLang="en-US" sz="2300" b="1">
              <a:solidFill>
                <a:srgbClr val="D88A1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EF11175-9BFC-EA06-A35C-6D8543A03728}"/>
              </a:ext>
            </a:extLst>
          </p:cNvPr>
          <p:cNvSpPr txBox="1"/>
          <p:nvPr/>
        </p:nvSpPr>
        <p:spPr>
          <a:xfrm>
            <a:off x="5575300" y="1892300"/>
            <a:ext cx="1714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未授权工具调用率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A7B7B50-7DB7-60AD-1B08-3EB4EE614EC4}"/>
              </a:ext>
            </a:extLst>
          </p:cNvPr>
          <p:cNvSpPr/>
          <p:nvPr/>
        </p:nvSpPr>
        <p:spPr>
          <a:xfrm>
            <a:off x="8242300" y="1587500"/>
            <a:ext cx="304800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5F70DF2-1412-42AC-769C-7CFB53BA446B}"/>
              </a:ext>
            </a:extLst>
          </p:cNvPr>
          <p:cNvSpPr txBox="1"/>
          <p:nvPr/>
        </p:nvSpPr>
        <p:spPr>
          <a:xfrm>
            <a:off x="8470900" y="1790700"/>
            <a:ext cx="762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300" b="1">
                <a:solidFill>
                  <a:srgbClr val="D94C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DSR</a:t>
            </a:r>
            <a:endParaRPr lang="zh-CN" altLang="en-US" sz="2300" b="1">
              <a:solidFill>
                <a:srgbClr val="D94C4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791ED64-ACD5-C3A7-7429-16C3B221FD5C}"/>
              </a:ext>
            </a:extLst>
          </p:cNvPr>
          <p:cNvSpPr txBox="1"/>
          <p:nvPr/>
        </p:nvSpPr>
        <p:spPr>
          <a:xfrm>
            <a:off x="9283700" y="1892300"/>
            <a:ext cx="1714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敏感数据泄漏率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32BC458-308C-8F54-4D47-E0163DB7DB73}"/>
              </a:ext>
            </a:extLst>
          </p:cNvPr>
          <p:cNvSpPr/>
          <p:nvPr/>
        </p:nvSpPr>
        <p:spPr>
          <a:xfrm>
            <a:off x="825500" y="3136900"/>
            <a:ext cx="304800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82DFAFD-9738-FF1F-E453-1688CDFA6BB3}"/>
              </a:ext>
            </a:extLst>
          </p:cNvPr>
          <p:cNvSpPr txBox="1"/>
          <p:nvPr/>
        </p:nvSpPr>
        <p:spPr>
          <a:xfrm>
            <a:off x="1054100" y="3340100"/>
            <a:ext cx="762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300" b="1">
                <a:solidFill>
                  <a:srgbClr val="2E9D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BSR</a:t>
            </a:r>
            <a:endParaRPr lang="zh-CN" altLang="en-US" sz="2300" b="1">
              <a:solidFill>
                <a:srgbClr val="2E9D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FB0E182-AEC7-84DA-43FB-5445EB5223D3}"/>
              </a:ext>
            </a:extLst>
          </p:cNvPr>
          <p:cNvSpPr txBox="1"/>
          <p:nvPr/>
        </p:nvSpPr>
        <p:spPr>
          <a:xfrm>
            <a:off x="1866900" y="3441700"/>
            <a:ext cx="1714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阻断成功率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9FF21B2-286E-DF80-FCF3-60BD18725D27}"/>
              </a:ext>
            </a:extLst>
          </p:cNvPr>
          <p:cNvSpPr/>
          <p:nvPr/>
        </p:nvSpPr>
        <p:spPr>
          <a:xfrm>
            <a:off x="4533900" y="3136900"/>
            <a:ext cx="304800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8BF331B-5A7B-89E3-9F3D-B56C4C01F6D4}"/>
              </a:ext>
            </a:extLst>
          </p:cNvPr>
          <p:cNvSpPr txBox="1"/>
          <p:nvPr/>
        </p:nvSpPr>
        <p:spPr>
          <a:xfrm>
            <a:off x="4762500" y="3340100"/>
            <a:ext cx="762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300" b="1">
                <a:solidFill>
                  <a:srgbClr val="6956A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FPR</a:t>
            </a:r>
            <a:endParaRPr lang="zh-CN" altLang="en-US" sz="2300" b="1">
              <a:solidFill>
                <a:srgbClr val="6956A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792E40A-F18B-5948-3D4B-52679EE67AC5}"/>
              </a:ext>
            </a:extLst>
          </p:cNvPr>
          <p:cNvSpPr txBox="1"/>
          <p:nvPr/>
        </p:nvSpPr>
        <p:spPr>
          <a:xfrm>
            <a:off x="5575300" y="3441700"/>
            <a:ext cx="1714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正常任务误报率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4B16A4E-2397-FDCF-34C6-7F7905682A84}"/>
              </a:ext>
            </a:extLst>
          </p:cNvPr>
          <p:cNvSpPr/>
          <p:nvPr/>
        </p:nvSpPr>
        <p:spPr>
          <a:xfrm>
            <a:off x="8242300" y="3136900"/>
            <a:ext cx="304800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B8CD589-9D12-7C5F-A15C-D25F77DD43AF}"/>
              </a:ext>
            </a:extLst>
          </p:cNvPr>
          <p:cNvSpPr txBox="1"/>
          <p:nvPr/>
        </p:nvSpPr>
        <p:spPr>
          <a:xfrm>
            <a:off x="8470900" y="3340100"/>
            <a:ext cx="762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300" b="1">
                <a:solidFill>
                  <a:srgbClr val="2C5A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WRS</a:t>
            </a:r>
            <a:endParaRPr lang="zh-CN" altLang="en-US" sz="2300" b="1">
              <a:solidFill>
                <a:srgbClr val="2C5A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154C39E-B70F-F820-5B60-5A571889CC55}"/>
              </a:ext>
            </a:extLst>
          </p:cNvPr>
          <p:cNvSpPr txBox="1"/>
          <p:nvPr/>
        </p:nvSpPr>
        <p:spPr>
          <a:xfrm>
            <a:off x="9283700" y="3441700"/>
            <a:ext cx="1714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综合韧性得分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E8AEA15-E7E0-1648-4EBF-9A1A071CA153}"/>
              </a:ext>
            </a:extLst>
          </p:cNvPr>
          <p:cNvSpPr txBox="1"/>
          <p:nvPr/>
        </p:nvSpPr>
        <p:spPr>
          <a:xfrm>
            <a:off x="889000" y="5207000"/>
            <a:ext cx="1016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评测脚本按模型、防御模式、攻击族、载体、语言和严重性分组输出 </a:t>
            </a:r>
            <a:r>
              <a:rPr lang="en-US" altLang="zh-CN" sz="1500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CSV/JSON</a:t>
            </a:r>
            <a:r>
              <a:rPr lang="zh-CN" altLang="en-US" sz="1500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，支撑答辩中的可追溯分析。</a:t>
            </a:r>
          </a:p>
        </p:txBody>
      </p:sp>
    </p:spTree>
    <p:extLst>
      <p:ext uri="{BB962C8B-B14F-4D97-AF65-F5344CB8AC3E}">
        <p14:creationId xmlns:p14="http://schemas.microsoft.com/office/powerpoint/2010/main" val="3968832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9AB8741-682A-407C-E822-1628114ECC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4963FD-C17F-0A1E-DA9E-FA252F6BB7B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4C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A676F14-1E47-84C5-E986-BA36B01438DB}"/>
              </a:ext>
            </a:extLst>
          </p:cNvPr>
          <p:cNvSpPr txBox="1"/>
          <p:nvPr/>
        </p:nvSpPr>
        <p:spPr>
          <a:xfrm>
            <a:off x="609600" y="2921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D94C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M3-PI Guard</a:t>
            </a:r>
            <a:endParaRPr lang="zh-CN" altLang="en-US" sz="1200" b="1">
              <a:solidFill>
                <a:srgbClr val="D94C4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EA36B8F-4C6A-9A91-EE18-077D95A0C2A0}"/>
              </a:ext>
            </a:extLst>
          </p:cNvPr>
          <p:cNvSpPr txBox="1"/>
          <p:nvPr/>
        </p:nvSpPr>
        <p:spPr>
          <a:xfrm>
            <a:off x="609600" y="660400"/>
            <a:ext cx="914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实验结果：</a:t>
            </a:r>
            <a:r>
              <a:rPr lang="en-US" altLang="zh-CN" sz="25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full_guard </a:t>
            </a:r>
            <a:r>
              <a:rPr lang="zh-CN" altLang="en-US" sz="25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显著降低高危行为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73CA63F-10DF-EE3C-32C5-FAA338C7DDD7}"/>
              </a:ext>
            </a:extLst>
          </p:cNvPr>
          <p:cNvCxnSpPr/>
          <p:nvPr/>
        </p:nvCxnSpPr>
        <p:spPr>
          <a:xfrm>
            <a:off x="609600" y="6070600"/>
            <a:ext cx="10185400" cy="0"/>
          </a:xfrm>
          <a:prstGeom prst="line">
            <a:avLst/>
          </a:prstGeom>
          <a:ln w="12700">
            <a:solidFill>
              <a:srgbClr val="D9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0CEE739E-1E18-08B6-4E3D-EC3C794FD06B}"/>
              </a:ext>
            </a:extLst>
          </p:cNvPr>
          <p:cNvSpPr txBox="1"/>
          <p:nvPr/>
        </p:nvSpPr>
        <p:spPr>
          <a:xfrm>
            <a:off x="11150600" y="6146800"/>
            <a:ext cx="63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200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</a:t>
            </a:r>
            <a:endParaRPr lang="zh-CN" altLang="en-US" sz="1200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02307C3-AA5B-40AD-6FDF-5FF09564AD3F}"/>
              </a:ext>
            </a:extLst>
          </p:cNvPr>
          <p:cNvSpPr/>
          <p:nvPr/>
        </p:nvSpPr>
        <p:spPr>
          <a:xfrm>
            <a:off x="635000" y="1473200"/>
            <a:ext cx="5207000" cy="273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C540C0E-29C5-89CC-0DFC-BADC6768B45B}"/>
              </a:ext>
            </a:extLst>
          </p:cNvPr>
          <p:cNvSpPr txBox="1"/>
          <p:nvPr/>
        </p:nvSpPr>
        <p:spPr>
          <a:xfrm>
            <a:off x="838200" y="1638300"/>
            <a:ext cx="4800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D94C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stub ASR by defense_mode</a:t>
            </a:r>
            <a:endParaRPr lang="zh-CN" altLang="en-US" sz="1500" b="1">
              <a:solidFill>
                <a:srgbClr val="D94C4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940833B-2965-D3D8-B483-CC5F5A7D7687}"/>
              </a:ext>
            </a:extLst>
          </p:cNvPr>
          <p:cNvSpPr txBox="1"/>
          <p:nvPr/>
        </p:nvSpPr>
        <p:spPr>
          <a:xfrm>
            <a:off x="838200" y="2120900"/>
            <a:ext cx="1206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baseline</a:t>
            </a:r>
            <a:endParaRPr lang="zh-CN" altLang="en-US" sz="1000" b="1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0F15CA7-7063-29E6-2D84-09EBCE70556E}"/>
              </a:ext>
            </a:extLst>
          </p:cNvPr>
          <p:cNvSpPr/>
          <p:nvPr/>
        </p:nvSpPr>
        <p:spPr>
          <a:xfrm>
            <a:off x="2108200" y="2197100"/>
            <a:ext cx="2667000" cy="177800"/>
          </a:xfrm>
          <a:prstGeom prst="roundRect">
            <a:avLst/>
          </a:prstGeom>
          <a:solidFill>
            <a:srgbClr val="EEF2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F27415E-DDFE-13DB-E06E-D221B8555EC2}"/>
              </a:ext>
            </a:extLst>
          </p:cNvPr>
          <p:cNvSpPr/>
          <p:nvPr/>
        </p:nvSpPr>
        <p:spPr>
          <a:xfrm>
            <a:off x="2108200" y="2197100"/>
            <a:ext cx="1473200" cy="177800"/>
          </a:xfrm>
          <a:prstGeom prst="roundRect">
            <a:avLst/>
          </a:prstGeom>
          <a:solidFill>
            <a:srgbClr val="D94C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9658FC7-B287-D0AE-0545-2825B30A4FB0}"/>
              </a:ext>
            </a:extLst>
          </p:cNvPr>
          <p:cNvSpPr txBox="1"/>
          <p:nvPr/>
        </p:nvSpPr>
        <p:spPr>
          <a:xfrm>
            <a:off x="4953000" y="2095500"/>
            <a:ext cx="685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0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55.1%</a:t>
            </a:r>
            <a:endParaRPr lang="zh-CN" altLang="en-US" sz="1000" b="1">
              <a:solidFill>
                <a:srgbClr val="1720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2AC1E49-A857-D287-B591-E47AF68663A6}"/>
              </a:ext>
            </a:extLst>
          </p:cNvPr>
          <p:cNvSpPr txBox="1"/>
          <p:nvPr/>
        </p:nvSpPr>
        <p:spPr>
          <a:xfrm>
            <a:off x="838200" y="2619375"/>
            <a:ext cx="1206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keyword_only</a:t>
            </a:r>
            <a:endParaRPr lang="zh-CN" altLang="en-US" sz="1000" b="1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268BA38-8752-1A86-33A0-20E699545079}"/>
              </a:ext>
            </a:extLst>
          </p:cNvPr>
          <p:cNvSpPr/>
          <p:nvPr/>
        </p:nvSpPr>
        <p:spPr>
          <a:xfrm>
            <a:off x="2108200" y="2695575"/>
            <a:ext cx="2667000" cy="177800"/>
          </a:xfrm>
          <a:prstGeom prst="roundRect">
            <a:avLst/>
          </a:prstGeom>
          <a:solidFill>
            <a:srgbClr val="EEF2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5C65D51-F6C0-943D-BFCA-BD4FDA3C6203}"/>
              </a:ext>
            </a:extLst>
          </p:cNvPr>
          <p:cNvSpPr/>
          <p:nvPr/>
        </p:nvSpPr>
        <p:spPr>
          <a:xfrm>
            <a:off x="2108200" y="2695575"/>
            <a:ext cx="342900" cy="177800"/>
          </a:xfrm>
          <a:prstGeom prst="roundRect">
            <a:avLst/>
          </a:prstGeom>
          <a:solidFill>
            <a:srgbClr val="D94C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7CD481F-0675-0269-EC96-6E69BF15E380}"/>
              </a:ext>
            </a:extLst>
          </p:cNvPr>
          <p:cNvSpPr txBox="1"/>
          <p:nvPr/>
        </p:nvSpPr>
        <p:spPr>
          <a:xfrm>
            <a:off x="4953000" y="2593975"/>
            <a:ext cx="685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0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13.0%</a:t>
            </a:r>
            <a:endParaRPr lang="zh-CN" altLang="en-US" sz="1000" b="1">
              <a:solidFill>
                <a:srgbClr val="1720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E663BCD-67E5-3D60-9732-4214A2149EBB}"/>
              </a:ext>
            </a:extLst>
          </p:cNvPr>
          <p:cNvSpPr txBox="1"/>
          <p:nvPr/>
        </p:nvSpPr>
        <p:spPr>
          <a:xfrm>
            <a:off x="838200" y="3117850"/>
            <a:ext cx="1206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policy_only</a:t>
            </a:r>
            <a:endParaRPr lang="zh-CN" altLang="en-US" sz="1000" b="1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3085D45-2BB4-FD6F-AD65-641664593AB0}"/>
              </a:ext>
            </a:extLst>
          </p:cNvPr>
          <p:cNvSpPr/>
          <p:nvPr/>
        </p:nvSpPr>
        <p:spPr>
          <a:xfrm>
            <a:off x="2108200" y="3194050"/>
            <a:ext cx="2667000" cy="177800"/>
          </a:xfrm>
          <a:prstGeom prst="roundRect">
            <a:avLst/>
          </a:prstGeom>
          <a:solidFill>
            <a:srgbClr val="EEF2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2644B30-AE30-140E-8630-A2A2680A23B9}"/>
              </a:ext>
            </a:extLst>
          </p:cNvPr>
          <p:cNvSpPr/>
          <p:nvPr/>
        </p:nvSpPr>
        <p:spPr>
          <a:xfrm>
            <a:off x="2108200" y="3194050"/>
            <a:ext cx="25400" cy="177800"/>
          </a:xfrm>
          <a:prstGeom prst="roundRect">
            <a:avLst/>
          </a:prstGeom>
          <a:solidFill>
            <a:srgbClr val="D94C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9568AC2-7168-D75F-0310-A5A6BD0BF2B9}"/>
              </a:ext>
            </a:extLst>
          </p:cNvPr>
          <p:cNvSpPr txBox="1"/>
          <p:nvPr/>
        </p:nvSpPr>
        <p:spPr>
          <a:xfrm>
            <a:off x="4953000" y="3092450"/>
            <a:ext cx="685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0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0.0%</a:t>
            </a:r>
            <a:endParaRPr lang="zh-CN" altLang="en-US" sz="1000" b="1">
              <a:solidFill>
                <a:srgbClr val="1720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C2CF18D-7A84-D612-6127-7AA239BE672A}"/>
              </a:ext>
            </a:extLst>
          </p:cNvPr>
          <p:cNvSpPr txBox="1"/>
          <p:nvPr/>
        </p:nvSpPr>
        <p:spPr>
          <a:xfrm>
            <a:off x="838200" y="3616325"/>
            <a:ext cx="1206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full_guard</a:t>
            </a:r>
            <a:endParaRPr lang="zh-CN" altLang="en-US" sz="1000" b="1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BC7FC6E-A6CE-EF98-565E-4A81D44697A3}"/>
              </a:ext>
            </a:extLst>
          </p:cNvPr>
          <p:cNvSpPr/>
          <p:nvPr/>
        </p:nvSpPr>
        <p:spPr>
          <a:xfrm>
            <a:off x="2108200" y="3692525"/>
            <a:ext cx="2667000" cy="177800"/>
          </a:xfrm>
          <a:prstGeom prst="roundRect">
            <a:avLst/>
          </a:prstGeom>
          <a:solidFill>
            <a:srgbClr val="EEF2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13D6958-0478-D313-38D6-BABA48F50198}"/>
              </a:ext>
            </a:extLst>
          </p:cNvPr>
          <p:cNvSpPr/>
          <p:nvPr/>
        </p:nvSpPr>
        <p:spPr>
          <a:xfrm>
            <a:off x="2108200" y="3692525"/>
            <a:ext cx="25400" cy="177800"/>
          </a:xfrm>
          <a:prstGeom prst="roundRect">
            <a:avLst/>
          </a:prstGeom>
          <a:solidFill>
            <a:srgbClr val="D94C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27FF71D-4C21-D8A9-31C4-FCBF480C0B13}"/>
              </a:ext>
            </a:extLst>
          </p:cNvPr>
          <p:cNvSpPr txBox="1"/>
          <p:nvPr/>
        </p:nvSpPr>
        <p:spPr>
          <a:xfrm>
            <a:off x="4953000" y="3590925"/>
            <a:ext cx="685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0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0.0%</a:t>
            </a:r>
            <a:endParaRPr lang="zh-CN" altLang="en-US" sz="1000" b="1">
              <a:solidFill>
                <a:srgbClr val="1720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B03A77B-F2F8-F061-5135-7F980FC128D3}"/>
              </a:ext>
            </a:extLst>
          </p:cNvPr>
          <p:cNvSpPr/>
          <p:nvPr/>
        </p:nvSpPr>
        <p:spPr>
          <a:xfrm>
            <a:off x="6350000" y="1473200"/>
            <a:ext cx="5207000" cy="273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5D920C7-C5CD-6932-7240-0A05F1EC224A}"/>
              </a:ext>
            </a:extLst>
          </p:cNvPr>
          <p:cNvSpPr txBox="1"/>
          <p:nvPr/>
        </p:nvSpPr>
        <p:spPr>
          <a:xfrm>
            <a:off x="6553200" y="1638300"/>
            <a:ext cx="4800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2C5A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stub WRS by defense_mode</a:t>
            </a:r>
            <a:endParaRPr lang="zh-CN" altLang="en-US" sz="1500" b="1">
              <a:solidFill>
                <a:srgbClr val="2C5A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0D5DEFB-2ECD-2E10-83D4-659820F2819A}"/>
              </a:ext>
            </a:extLst>
          </p:cNvPr>
          <p:cNvSpPr txBox="1"/>
          <p:nvPr/>
        </p:nvSpPr>
        <p:spPr>
          <a:xfrm>
            <a:off x="6553200" y="2120900"/>
            <a:ext cx="1206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baseline</a:t>
            </a:r>
            <a:endParaRPr lang="zh-CN" altLang="en-US" sz="1000" b="1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E2241496-8EEF-EEF9-7994-E81D681EA28B}"/>
              </a:ext>
            </a:extLst>
          </p:cNvPr>
          <p:cNvSpPr/>
          <p:nvPr/>
        </p:nvSpPr>
        <p:spPr>
          <a:xfrm>
            <a:off x="7823200" y="2197100"/>
            <a:ext cx="2667000" cy="177800"/>
          </a:xfrm>
          <a:prstGeom prst="roundRect">
            <a:avLst/>
          </a:prstGeom>
          <a:solidFill>
            <a:srgbClr val="EEF2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97D39FE-B35D-ECCA-D34A-6EA3E32080D6}"/>
              </a:ext>
            </a:extLst>
          </p:cNvPr>
          <p:cNvSpPr/>
          <p:nvPr/>
        </p:nvSpPr>
        <p:spPr>
          <a:xfrm>
            <a:off x="7823200" y="2197100"/>
            <a:ext cx="1308100" cy="177800"/>
          </a:xfrm>
          <a:prstGeom prst="round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BE36CAC-0CE4-49DE-7FE9-10C98CC93176}"/>
              </a:ext>
            </a:extLst>
          </p:cNvPr>
          <p:cNvSpPr txBox="1"/>
          <p:nvPr/>
        </p:nvSpPr>
        <p:spPr>
          <a:xfrm>
            <a:off x="10668000" y="2095500"/>
            <a:ext cx="685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0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0.489</a:t>
            </a:r>
            <a:endParaRPr lang="zh-CN" altLang="en-US" sz="1000" b="1">
              <a:solidFill>
                <a:srgbClr val="1720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2E93AB5-1F81-D552-682B-A07B59267CB4}"/>
              </a:ext>
            </a:extLst>
          </p:cNvPr>
          <p:cNvSpPr txBox="1"/>
          <p:nvPr/>
        </p:nvSpPr>
        <p:spPr>
          <a:xfrm>
            <a:off x="6553200" y="2619375"/>
            <a:ext cx="1206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keyword_only</a:t>
            </a:r>
            <a:endParaRPr lang="zh-CN" altLang="en-US" sz="1000" b="1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AD05AE27-E5F3-9BA9-2EF9-EC13E1308E8D}"/>
              </a:ext>
            </a:extLst>
          </p:cNvPr>
          <p:cNvSpPr/>
          <p:nvPr/>
        </p:nvSpPr>
        <p:spPr>
          <a:xfrm>
            <a:off x="7823200" y="2695575"/>
            <a:ext cx="2667000" cy="177800"/>
          </a:xfrm>
          <a:prstGeom prst="roundRect">
            <a:avLst/>
          </a:prstGeom>
          <a:solidFill>
            <a:srgbClr val="EEF2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71EE5246-CE90-C09F-E049-023CA9D5EE71}"/>
              </a:ext>
            </a:extLst>
          </p:cNvPr>
          <p:cNvSpPr/>
          <p:nvPr/>
        </p:nvSpPr>
        <p:spPr>
          <a:xfrm>
            <a:off x="7823200" y="2695575"/>
            <a:ext cx="2286000" cy="177800"/>
          </a:xfrm>
          <a:prstGeom prst="round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48757DD-636F-6368-7FD2-56200CE35315}"/>
              </a:ext>
            </a:extLst>
          </p:cNvPr>
          <p:cNvSpPr txBox="1"/>
          <p:nvPr/>
        </p:nvSpPr>
        <p:spPr>
          <a:xfrm>
            <a:off x="10668000" y="2593975"/>
            <a:ext cx="685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0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0.859</a:t>
            </a:r>
            <a:endParaRPr lang="zh-CN" altLang="en-US" sz="1000" b="1">
              <a:solidFill>
                <a:srgbClr val="1720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D2BBB26-2816-7971-F0D0-A6D8AB10FF1C}"/>
              </a:ext>
            </a:extLst>
          </p:cNvPr>
          <p:cNvSpPr txBox="1"/>
          <p:nvPr/>
        </p:nvSpPr>
        <p:spPr>
          <a:xfrm>
            <a:off x="6553200" y="3117850"/>
            <a:ext cx="1206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policy_only</a:t>
            </a:r>
            <a:endParaRPr lang="zh-CN" altLang="en-US" sz="1000" b="1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522C96EB-9BDC-B2EF-17E1-E86724D862A2}"/>
              </a:ext>
            </a:extLst>
          </p:cNvPr>
          <p:cNvSpPr/>
          <p:nvPr/>
        </p:nvSpPr>
        <p:spPr>
          <a:xfrm>
            <a:off x="7823200" y="3194050"/>
            <a:ext cx="2667000" cy="177800"/>
          </a:xfrm>
          <a:prstGeom prst="roundRect">
            <a:avLst/>
          </a:prstGeom>
          <a:solidFill>
            <a:srgbClr val="EEF2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A32F1D8-E377-6CF9-1596-588E7D4AA6CD}"/>
              </a:ext>
            </a:extLst>
          </p:cNvPr>
          <p:cNvSpPr/>
          <p:nvPr/>
        </p:nvSpPr>
        <p:spPr>
          <a:xfrm>
            <a:off x="7823200" y="3194050"/>
            <a:ext cx="2616200" cy="177800"/>
          </a:xfrm>
          <a:prstGeom prst="round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EACAAB6-22D7-D6B3-857B-72ABD4826A01}"/>
              </a:ext>
            </a:extLst>
          </p:cNvPr>
          <p:cNvSpPr txBox="1"/>
          <p:nvPr/>
        </p:nvSpPr>
        <p:spPr>
          <a:xfrm>
            <a:off x="10668000" y="3092450"/>
            <a:ext cx="685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0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0.983</a:t>
            </a:r>
            <a:endParaRPr lang="zh-CN" altLang="en-US" sz="1000" b="1">
              <a:solidFill>
                <a:srgbClr val="1720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BBFE692-89A6-53FB-B3B0-164548538C77}"/>
              </a:ext>
            </a:extLst>
          </p:cNvPr>
          <p:cNvSpPr txBox="1"/>
          <p:nvPr/>
        </p:nvSpPr>
        <p:spPr>
          <a:xfrm>
            <a:off x="6553200" y="3616325"/>
            <a:ext cx="1206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full_guard</a:t>
            </a:r>
            <a:endParaRPr lang="zh-CN" altLang="en-US" sz="1000" b="1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6F7A126B-AFDD-9628-BEAE-81AD1D5E2DA8}"/>
              </a:ext>
            </a:extLst>
          </p:cNvPr>
          <p:cNvSpPr/>
          <p:nvPr/>
        </p:nvSpPr>
        <p:spPr>
          <a:xfrm>
            <a:off x="7823200" y="3692525"/>
            <a:ext cx="2667000" cy="177800"/>
          </a:xfrm>
          <a:prstGeom prst="roundRect">
            <a:avLst/>
          </a:prstGeom>
          <a:solidFill>
            <a:srgbClr val="EEF2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57CCB0BD-A210-A456-2563-288789355856}"/>
              </a:ext>
            </a:extLst>
          </p:cNvPr>
          <p:cNvSpPr/>
          <p:nvPr/>
        </p:nvSpPr>
        <p:spPr>
          <a:xfrm>
            <a:off x="7823200" y="3692525"/>
            <a:ext cx="2616200" cy="177800"/>
          </a:xfrm>
          <a:prstGeom prst="round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2D52816-FA42-0F9F-BB7C-AA155CC6C580}"/>
              </a:ext>
            </a:extLst>
          </p:cNvPr>
          <p:cNvSpPr txBox="1"/>
          <p:nvPr/>
        </p:nvSpPr>
        <p:spPr>
          <a:xfrm>
            <a:off x="10668000" y="3590925"/>
            <a:ext cx="685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0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0.983</a:t>
            </a:r>
            <a:endParaRPr lang="zh-CN" altLang="en-US" sz="1000" b="1">
              <a:solidFill>
                <a:srgbClr val="1720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20F2C5B6-734C-75A4-79C5-F24AC2FAD176}"/>
              </a:ext>
            </a:extLst>
          </p:cNvPr>
          <p:cNvSpPr/>
          <p:nvPr/>
        </p:nvSpPr>
        <p:spPr>
          <a:xfrm>
            <a:off x="787400" y="4635500"/>
            <a:ext cx="23495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1C7F883-0F20-8FB3-0DAB-A5C77DB59156}"/>
              </a:ext>
            </a:extLst>
          </p:cNvPr>
          <p:cNvSpPr/>
          <p:nvPr/>
        </p:nvSpPr>
        <p:spPr>
          <a:xfrm>
            <a:off x="787400" y="4635500"/>
            <a:ext cx="76200" cy="812800"/>
          </a:xfrm>
          <a:prstGeom prst="rect">
            <a:avLst/>
          </a:prstGeom>
          <a:solidFill>
            <a:srgbClr val="D94C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5DBF407-A0A3-6CC8-9140-FE7F01CA2611}"/>
              </a:ext>
            </a:extLst>
          </p:cNvPr>
          <p:cNvSpPr txBox="1"/>
          <p:nvPr/>
        </p:nvSpPr>
        <p:spPr>
          <a:xfrm>
            <a:off x="990600" y="4762500"/>
            <a:ext cx="1968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stub baseline ASR</a:t>
            </a:r>
            <a:endParaRPr lang="zh-CN" altLang="en-US" sz="1000" b="1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6784233-3B22-DCE5-4D95-E057BFB83016}"/>
              </a:ext>
            </a:extLst>
          </p:cNvPr>
          <p:cNvSpPr txBox="1"/>
          <p:nvPr/>
        </p:nvSpPr>
        <p:spPr>
          <a:xfrm>
            <a:off x="990600" y="5029200"/>
            <a:ext cx="1968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D94C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55.1%</a:t>
            </a:r>
            <a:endParaRPr lang="zh-CN" altLang="en-US" sz="2000" b="1">
              <a:solidFill>
                <a:srgbClr val="D94C4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03CDD8ED-CE6D-1659-ABC5-8B2E049904A0}"/>
              </a:ext>
            </a:extLst>
          </p:cNvPr>
          <p:cNvSpPr/>
          <p:nvPr/>
        </p:nvSpPr>
        <p:spPr>
          <a:xfrm>
            <a:off x="3479800" y="4635500"/>
            <a:ext cx="23495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ACC54AB-3E3A-B034-6F63-CB6FEFDCED0C}"/>
              </a:ext>
            </a:extLst>
          </p:cNvPr>
          <p:cNvSpPr/>
          <p:nvPr/>
        </p:nvSpPr>
        <p:spPr>
          <a:xfrm>
            <a:off x="3479800" y="4635500"/>
            <a:ext cx="76200" cy="812800"/>
          </a:xfrm>
          <a:prstGeom prst="rect">
            <a:avLst/>
          </a:prstGeom>
          <a:solidFill>
            <a:srgbClr val="2E9D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FFF6F43B-14CE-D959-59F2-66552EF6897A}"/>
              </a:ext>
            </a:extLst>
          </p:cNvPr>
          <p:cNvSpPr txBox="1"/>
          <p:nvPr/>
        </p:nvSpPr>
        <p:spPr>
          <a:xfrm>
            <a:off x="3683000" y="4762500"/>
            <a:ext cx="1968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stub full_guard ASR</a:t>
            </a:r>
            <a:endParaRPr lang="zh-CN" altLang="en-US" sz="1000" b="1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1457A50-5F20-2CBD-B1B1-7289BD34AB48}"/>
              </a:ext>
            </a:extLst>
          </p:cNvPr>
          <p:cNvSpPr txBox="1"/>
          <p:nvPr/>
        </p:nvSpPr>
        <p:spPr>
          <a:xfrm>
            <a:off x="3683000" y="5029200"/>
            <a:ext cx="1968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2E9D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0.0%</a:t>
            </a:r>
            <a:endParaRPr lang="zh-CN" altLang="en-US" sz="2000" b="1">
              <a:solidFill>
                <a:srgbClr val="2E9D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E1E950DB-8FC5-F9B9-C1C8-9B932CA47023}"/>
              </a:ext>
            </a:extLst>
          </p:cNvPr>
          <p:cNvSpPr/>
          <p:nvPr/>
        </p:nvSpPr>
        <p:spPr>
          <a:xfrm>
            <a:off x="6172200" y="4635500"/>
            <a:ext cx="23495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C393CA3-986C-DD5E-B2D0-5C4F3E83A7F7}"/>
              </a:ext>
            </a:extLst>
          </p:cNvPr>
          <p:cNvSpPr/>
          <p:nvPr/>
        </p:nvSpPr>
        <p:spPr>
          <a:xfrm>
            <a:off x="6172200" y="4635500"/>
            <a:ext cx="76200" cy="8128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E2D0B9B-5899-FD6C-7C26-ACAFE6F7312E}"/>
              </a:ext>
            </a:extLst>
          </p:cNvPr>
          <p:cNvSpPr txBox="1"/>
          <p:nvPr/>
        </p:nvSpPr>
        <p:spPr>
          <a:xfrm>
            <a:off x="6375400" y="4762500"/>
            <a:ext cx="1968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Qwen2.5 full_guard WRS</a:t>
            </a:r>
            <a:endParaRPr lang="zh-CN" altLang="en-US" sz="1000" b="1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E4AC1FC-D12A-401E-72AC-CB5230242191}"/>
              </a:ext>
            </a:extLst>
          </p:cNvPr>
          <p:cNvSpPr txBox="1"/>
          <p:nvPr/>
        </p:nvSpPr>
        <p:spPr>
          <a:xfrm>
            <a:off x="6375400" y="5029200"/>
            <a:ext cx="1968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2C5A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0.919</a:t>
            </a:r>
            <a:endParaRPr lang="zh-CN" altLang="en-US" sz="2000" b="1">
              <a:solidFill>
                <a:srgbClr val="2C5A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ADB46AFE-9A19-8019-6058-AB4F79DE38C0}"/>
              </a:ext>
            </a:extLst>
          </p:cNvPr>
          <p:cNvSpPr/>
          <p:nvPr/>
        </p:nvSpPr>
        <p:spPr>
          <a:xfrm>
            <a:off x="8864600" y="4635500"/>
            <a:ext cx="23495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501C8CD-4707-673B-02E6-23A19AA42E43}"/>
              </a:ext>
            </a:extLst>
          </p:cNvPr>
          <p:cNvSpPr/>
          <p:nvPr/>
        </p:nvSpPr>
        <p:spPr>
          <a:xfrm>
            <a:off x="8864600" y="4635500"/>
            <a:ext cx="76200" cy="812800"/>
          </a:xfrm>
          <a:prstGeom prst="rect">
            <a:avLst/>
          </a:prstGeom>
          <a:solidFill>
            <a:srgbClr val="118A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3025ABA-2193-B9F2-4BFF-1EDD60C8BCCF}"/>
              </a:ext>
            </a:extLst>
          </p:cNvPr>
          <p:cNvSpPr txBox="1"/>
          <p:nvPr/>
        </p:nvSpPr>
        <p:spPr>
          <a:xfrm>
            <a:off x="9067800" y="4762500"/>
            <a:ext cx="1968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Qwen2.5 full_guard DSR</a:t>
            </a:r>
            <a:endParaRPr lang="zh-CN" altLang="en-US" sz="1000" b="1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E8CACA1-2004-1D90-E59E-5EE869A3C31B}"/>
              </a:ext>
            </a:extLst>
          </p:cNvPr>
          <p:cNvSpPr txBox="1"/>
          <p:nvPr/>
        </p:nvSpPr>
        <p:spPr>
          <a:xfrm>
            <a:off x="9067800" y="5029200"/>
            <a:ext cx="1968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118A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0.0%</a:t>
            </a:r>
            <a:endParaRPr lang="zh-CN" altLang="en-US" sz="2000" b="1">
              <a:solidFill>
                <a:srgbClr val="118A8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3576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A01980A-0647-45BB-66DB-F8A5B53699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46FA89-C775-8F99-AAA1-4CC035B8CADB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4C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716D48-1DE9-CC53-37E7-61F3C623EC7B}"/>
              </a:ext>
            </a:extLst>
          </p:cNvPr>
          <p:cNvSpPr txBox="1"/>
          <p:nvPr/>
        </p:nvSpPr>
        <p:spPr>
          <a:xfrm>
            <a:off x="609600" y="2921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D94C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M3-PI Guard</a:t>
            </a:r>
            <a:endParaRPr lang="zh-CN" altLang="en-US" sz="1200" b="1">
              <a:solidFill>
                <a:srgbClr val="D94C4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4A52BAC-30AC-F412-B2AF-C6C878C21DA2}"/>
              </a:ext>
            </a:extLst>
          </p:cNvPr>
          <p:cNvSpPr txBox="1"/>
          <p:nvPr/>
        </p:nvSpPr>
        <p:spPr>
          <a:xfrm>
            <a:off x="609600" y="660400"/>
            <a:ext cx="914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案例演示：从恶意载体到可解释阻断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DD3F6CC-1F2A-B7C1-C5E0-28A1766EDC54}"/>
              </a:ext>
            </a:extLst>
          </p:cNvPr>
          <p:cNvCxnSpPr/>
          <p:nvPr/>
        </p:nvCxnSpPr>
        <p:spPr>
          <a:xfrm>
            <a:off x="609600" y="6070600"/>
            <a:ext cx="10185400" cy="0"/>
          </a:xfrm>
          <a:prstGeom prst="line">
            <a:avLst/>
          </a:prstGeom>
          <a:ln w="12700">
            <a:solidFill>
              <a:srgbClr val="D9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07A86F01-4C67-5308-C240-C7AE56594A3F}"/>
              </a:ext>
            </a:extLst>
          </p:cNvPr>
          <p:cNvSpPr txBox="1"/>
          <p:nvPr/>
        </p:nvSpPr>
        <p:spPr>
          <a:xfrm>
            <a:off x="11150600" y="6146800"/>
            <a:ext cx="63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200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1200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6CB288A-C191-489C-D272-575629709F66}"/>
              </a:ext>
            </a:extLst>
          </p:cNvPr>
          <p:cNvSpPr/>
          <p:nvPr/>
        </p:nvSpPr>
        <p:spPr>
          <a:xfrm>
            <a:off x="698500" y="1460500"/>
            <a:ext cx="3302000" cy="241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F8D6BC-07D5-D25B-9AA8-F38D21C4A14A}"/>
              </a:ext>
            </a:extLst>
          </p:cNvPr>
          <p:cNvSpPr/>
          <p:nvPr/>
        </p:nvSpPr>
        <p:spPr>
          <a:xfrm>
            <a:off x="698500" y="1460500"/>
            <a:ext cx="76200" cy="2413000"/>
          </a:xfrm>
          <a:prstGeom prst="rect">
            <a:avLst/>
          </a:prstGeom>
          <a:solidFill>
            <a:srgbClr val="D88A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987CAAB-3FC5-545D-532A-E296CB705955}"/>
              </a:ext>
            </a:extLst>
          </p:cNvPr>
          <p:cNvSpPr txBox="1"/>
          <p:nvPr/>
        </p:nvSpPr>
        <p:spPr>
          <a:xfrm>
            <a:off x="927100" y="1638300"/>
            <a:ext cx="2895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D88A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输入载体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AE87A11-03F4-E66E-78F5-E9854187447C}"/>
              </a:ext>
            </a:extLst>
          </p:cNvPr>
          <p:cNvSpPr txBox="1"/>
          <p:nvPr/>
        </p:nvSpPr>
        <p:spPr>
          <a:xfrm>
            <a:off x="927100" y="2095500"/>
            <a:ext cx="28956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文档或工具输出包含忽略之前、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send_email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system prompt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等指令型文本
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JSON/RPC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字段伪装下一步动作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FFF946E-2086-3FDA-CABA-72F7BD3CED8E}"/>
              </a:ext>
            </a:extLst>
          </p:cNvPr>
          <p:cNvSpPr/>
          <p:nvPr/>
        </p:nvSpPr>
        <p:spPr>
          <a:xfrm>
            <a:off x="4445000" y="1460500"/>
            <a:ext cx="3302000" cy="241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CE7ECF3-39B6-D830-B78F-6F135FF0EB3E}"/>
              </a:ext>
            </a:extLst>
          </p:cNvPr>
          <p:cNvSpPr/>
          <p:nvPr/>
        </p:nvSpPr>
        <p:spPr>
          <a:xfrm>
            <a:off x="4445000" y="1460500"/>
            <a:ext cx="76200" cy="2413000"/>
          </a:xfrm>
          <a:prstGeom prst="rect">
            <a:avLst/>
          </a:prstGeom>
          <a:solidFill>
            <a:srgbClr val="D94C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BDFE40A-927A-B3C2-F592-252BF8F6917B}"/>
              </a:ext>
            </a:extLst>
          </p:cNvPr>
          <p:cNvSpPr txBox="1"/>
          <p:nvPr/>
        </p:nvSpPr>
        <p:spPr>
          <a:xfrm>
            <a:off x="4673600" y="1638300"/>
            <a:ext cx="2895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D94C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风险工具调用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956F610-FBF2-6E6A-4C04-8AEFB5860614}"/>
              </a:ext>
            </a:extLst>
          </p:cNvPr>
          <p:cNvSpPr txBox="1"/>
          <p:nvPr/>
        </p:nvSpPr>
        <p:spPr>
          <a:xfrm>
            <a:off x="4673600" y="2095500"/>
            <a:ext cx="28956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send_email body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携带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M3_CANARY
• call_api params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中包含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 / password
• read_file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指向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sandbox/secrets</a:t>
            </a:r>
            <a:endParaRPr lang="zh-CN" altLang="en-US" sz="1500">
              <a:solidFill>
                <a:srgbClr val="1720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C75626F-0A2A-3678-2943-6E050531FCC6}"/>
              </a:ext>
            </a:extLst>
          </p:cNvPr>
          <p:cNvSpPr/>
          <p:nvPr/>
        </p:nvSpPr>
        <p:spPr>
          <a:xfrm>
            <a:off x="8191500" y="1460500"/>
            <a:ext cx="3302000" cy="241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C2CB3F6-F584-1093-9F77-73F760809AED}"/>
              </a:ext>
            </a:extLst>
          </p:cNvPr>
          <p:cNvSpPr/>
          <p:nvPr/>
        </p:nvSpPr>
        <p:spPr>
          <a:xfrm>
            <a:off x="8191500" y="1460500"/>
            <a:ext cx="76200" cy="2413000"/>
          </a:xfrm>
          <a:prstGeom prst="rect">
            <a:avLst/>
          </a:prstGeom>
          <a:solidFill>
            <a:srgbClr val="2E9D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8A9B38B-36A5-38E9-E490-8EFEBECD8C70}"/>
              </a:ext>
            </a:extLst>
          </p:cNvPr>
          <p:cNvSpPr txBox="1"/>
          <p:nvPr/>
        </p:nvSpPr>
        <p:spPr>
          <a:xfrm>
            <a:off x="8420100" y="1638300"/>
            <a:ext cx="2895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2E9D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Guard </a:t>
            </a:r>
            <a:r>
              <a:rPr lang="zh-CN" altLang="en-US" sz="1600" b="1">
                <a:solidFill>
                  <a:srgbClr val="2E9D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2C94AF6-2F00-1819-A2D2-5E6431A4A869}"/>
              </a:ext>
            </a:extLst>
          </p:cNvPr>
          <p:cNvSpPr txBox="1"/>
          <p:nvPr/>
        </p:nvSpPr>
        <p:spPr>
          <a:xfrm>
            <a:off x="8420100" y="2095500"/>
            <a:ext cx="28956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decision = deny
• risk &gt;= 0.65
• reasons: sensitive_data_flow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secret_path_access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tool_output_injection_detected</a:t>
            </a:r>
            <a:endParaRPr lang="zh-CN" altLang="en-US" sz="1500">
              <a:solidFill>
                <a:srgbClr val="1720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03943C9-ABF2-51FC-74E8-54A4D528F4CB}"/>
              </a:ext>
            </a:extLst>
          </p:cNvPr>
          <p:cNvSpPr/>
          <p:nvPr/>
        </p:nvSpPr>
        <p:spPr>
          <a:xfrm>
            <a:off x="2095500" y="4292600"/>
            <a:ext cx="8001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88A3638-0249-9CE7-E2E4-9166340C0A45}"/>
              </a:ext>
            </a:extLst>
          </p:cNvPr>
          <p:cNvSpPr txBox="1"/>
          <p:nvPr/>
        </p:nvSpPr>
        <p:spPr>
          <a:xfrm>
            <a:off x="2298700" y="4445000"/>
            <a:ext cx="304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6956A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阻断原因 </a:t>
            </a:r>
            <a:r>
              <a:rPr lang="en-US" altLang="zh-CN" sz="1500" b="1">
                <a:solidFill>
                  <a:srgbClr val="6956A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 </a:t>
            </a:r>
            <a:r>
              <a:rPr lang="zh-CN" altLang="en-US" sz="1500" b="1">
                <a:solidFill>
                  <a:srgbClr val="6956A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信号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ED21740-ACC4-776E-E244-7E018CFB3BDC}"/>
              </a:ext>
            </a:extLst>
          </p:cNvPr>
          <p:cNvSpPr txBox="1"/>
          <p:nvPr/>
        </p:nvSpPr>
        <p:spPr>
          <a:xfrm>
            <a:off x="2324100" y="4851400"/>
            <a:ext cx="177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high_risk_tool</a:t>
            </a:r>
            <a:endParaRPr lang="zh-CN" altLang="en-US" sz="800" b="1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5BA83E8-5881-6B74-3484-A4215E022AC8}"/>
              </a:ext>
            </a:extLst>
          </p:cNvPr>
          <p:cNvSpPr/>
          <p:nvPr/>
        </p:nvSpPr>
        <p:spPr>
          <a:xfrm>
            <a:off x="4127500" y="4889500"/>
            <a:ext cx="4572000" cy="127000"/>
          </a:xfrm>
          <a:prstGeom prst="roundRect">
            <a:avLst/>
          </a:prstGeom>
          <a:solidFill>
            <a:srgbClr val="EEF2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FF8282E-C856-14B7-5260-7559B82AD318}"/>
              </a:ext>
            </a:extLst>
          </p:cNvPr>
          <p:cNvSpPr/>
          <p:nvPr/>
        </p:nvSpPr>
        <p:spPr>
          <a:xfrm>
            <a:off x="4127500" y="4889500"/>
            <a:ext cx="4572000" cy="127000"/>
          </a:xfrm>
          <a:prstGeom prst="roundRect">
            <a:avLst/>
          </a:prstGeom>
          <a:solidFill>
            <a:srgbClr val="6956A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B55C391-9BE4-CF29-7528-6992AFF596D6}"/>
              </a:ext>
            </a:extLst>
          </p:cNvPr>
          <p:cNvSpPr txBox="1"/>
          <p:nvPr/>
        </p:nvSpPr>
        <p:spPr>
          <a:xfrm>
            <a:off x="8890000" y="4838700"/>
            <a:ext cx="53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56</a:t>
            </a:r>
            <a:endParaRPr lang="zh-CN" altLang="en-US" sz="900" b="1">
              <a:solidFill>
                <a:srgbClr val="1720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E149328-7518-7EDC-A321-5C204B1458CC}"/>
              </a:ext>
            </a:extLst>
          </p:cNvPr>
          <p:cNvSpPr txBox="1"/>
          <p:nvPr/>
        </p:nvSpPr>
        <p:spPr>
          <a:xfrm>
            <a:off x="2324100" y="5092700"/>
            <a:ext cx="177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external_side_effect</a:t>
            </a:r>
            <a:endParaRPr lang="zh-CN" altLang="en-US" sz="800" b="1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4868FAC-A5FA-15AC-DA72-FB0B13BD89E0}"/>
              </a:ext>
            </a:extLst>
          </p:cNvPr>
          <p:cNvSpPr/>
          <p:nvPr/>
        </p:nvSpPr>
        <p:spPr>
          <a:xfrm>
            <a:off x="4127500" y="5130800"/>
            <a:ext cx="4572000" cy="127000"/>
          </a:xfrm>
          <a:prstGeom prst="roundRect">
            <a:avLst/>
          </a:prstGeom>
          <a:solidFill>
            <a:srgbClr val="EEF2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7AFAF31-FD1A-0A53-56B4-C04E43B26A98}"/>
              </a:ext>
            </a:extLst>
          </p:cNvPr>
          <p:cNvSpPr/>
          <p:nvPr/>
        </p:nvSpPr>
        <p:spPr>
          <a:xfrm>
            <a:off x="4127500" y="5130800"/>
            <a:ext cx="3020786" cy="127000"/>
          </a:xfrm>
          <a:prstGeom prst="roundRect">
            <a:avLst/>
          </a:prstGeom>
          <a:solidFill>
            <a:srgbClr val="6956A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6694ABF-6A61-6D16-AC60-8AF460EFAA0F}"/>
              </a:ext>
            </a:extLst>
          </p:cNvPr>
          <p:cNvSpPr txBox="1"/>
          <p:nvPr/>
        </p:nvSpPr>
        <p:spPr>
          <a:xfrm>
            <a:off x="8890000" y="5080000"/>
            <a:ext cx="53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37</a:t>
            </a:r>
            <a:endParaRPr lang="zh-CN" altLang="en-US" sz="900" b="1">
              <a:solidFill>
                <a:srgbClr val="1720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E6A35D2-54CE-277B-FFAB-296E6B18D192}"/>
              </a:ext>
            </a:extLst>
          </p:cNvPr>
          <p:cNvSpPr txBox="1"/>
          <p:nvPr/>
        </p:nvSpPr>
        <p:spPr>
          <a:xfrm>
            <a:off x="2324100" y="5334000"/>
            <a:ext cx="177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sensitive_data</a:t>
            </a:r>
            <a:endParaRPr lang="zh-CN" altLang="en-US" sz="800" b="1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0C67EE8-1DFF-D28F-32BC-92F6F8110277}"/>
              </a:ext>
            </a:extLst>
          </p:cNvPr>
          <p:cNvSpPr/>
          <p:nvPr/>
        </p:nvSpPr>
        <p:spPr>
          <a:xfrm>
            <a:off x="4127500" y="5372100"/>
            <a:ext cx="4572000" cy="127000"/>
          </a:xfrm>
          <a:prstGeom prst="roundRect">
            <a:avLst/>
          </a:prstGeom>
          <a:solidFill>
            <a:srgbClr val="EEF2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7E12A0B3-4100-CEFF-8B1C-EDB69B142291}"/>
              </a:ext>
            </a:extLst>
          </p:cNvPr>
          <p:cNvSpPr/>
          <p:nvPr/>
        </p:nvSpPr>
        <p:spPr>
          <a:xfrm>
            <a:off x="4127500" y="5372100"/>
            <a:ext cx="1959428" cy="127000"/>
          </a:xfrm>
          <a:prstGeom prst="roundRect">
            <a:avLst/>
          </a:prstGeom>
          <a:solidFill>
            <a:srgbClr val="6956A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FB63F62-A9D0-1794-25C8-B128B1B6DF6A}"/>
              </a:ext>
            </a:extLst>
          </p:cNvPr>
          <p:cNvSpPr txBox="1"/>
          <p:nvPr/>
        </p:nvSpPr>
        <p:spPr>
          <a:xfrm>
            <a:off x="8890000" y="5321300"/>
            <a:ext cx="53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24</a:t>
            </a:r>
            <a:endParaRPr lang="zh-CN" altLang="en-US" sz="900" b="1">
              <a:solidFill>
                <a:srgbClr val="1720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48BF3C4-3DC8-C555-D166-EA9C52BE7A07}"/>
              </a:ext>
            </a:extLst>
          </p:cNvPr>
          <p:cNvSpPr txBox="1"/>
          <p:nvPr/>
        </p:nvSpPr>
        <p:spPr>
          <a:xfrm>
            <a:off x="2324100" y="5575300"/>
            <a:ext cx="177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structured_injection</a:t>
            </a:r>
            <a:endParaRPr lang="zh-CN" altLang="en-US" sz="800" b="1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16E6B082-FDA8-26A6-CA73-3CD5FD83A2E3}"/>
              </a:ext>
            </a:extLst>
          </p:cNvPr>
          <p:cNvSpPr/>
          <p:nvPr/>
        </p:nvSpPr>
        <p:spPr>
          <a:xfrm>
            <a:off x="4127500" y="5613400"/>
            <a:ext cx="4572000" cy="127000"/>
          </a:xfrm>
          <a:prstGeom prst="roundRect">
            <a:avLst/>
          </a:prstGeom>
          <a:solidFill>
            <a:srgbClr val="EEF2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7E61D962-C4BF-FFF1-491D-12920AA6846C}"/>
              </a:ext>
            </a:extLst>
          </p:cNvPr>
          <p:cNvSpPr/>
          <p:nvPr/>
        </p:nvSpPr>
        <p:spPr>
          <a:xfrm>
            <a:off x="4127500" y="5613400"/>
            <a:ext cx="1387928" cy="127000"/>
          </a:xfrm>
          <a:prstGeom prst="roundRect">
            <a:avLst/>
          </a:prstGeom>
          <a:solidFill>
            <a:srgbClr val="6956A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8E9B5A6-C8C3-7203-23F8-8A62E37493E5}"/>
              </a:ext>
            </a:extLst>
          </p:cNvPr>
          <p:cNvSpPr txBox="1"/>
          <p:nvPr/>
        </p:nvSpPr>
        <p:spPr>
          <a:xfrm>
            <a:off x="8890000" y="5562600"/>
            <a:ext cx="53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17</a:t>
            </a:r>
            <a:endParaRPr lang="zh-CN" altLang="en-US" sz="900" b="1">
              <a:solidFill>
                <a:srgbClr val="1720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FA8AD14-40C5-90DC-BE85-CA3A18D76EDB}"/>
              </a:ext>
            </a:extLst>
          </p:cNvPr>
          <p:cNvSpPr txBox="1"/>
          <p:nvPr/>
        </p:nvSpPr>
        <p:spPr>
          <a:xfrm>
            <a:off x="2324100" y="5816600"/>
            <a:ext cx="177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intent_mismatch</a:t>
            </a:r>
            <a:endParaRPr lang="zh-CN" altLang="en-US" sz="800" b="1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352C59AE-F99F-C886-203C-8A3E91187C74}"/>
              </a:ext>
            </a:extLst>
          </p:cNvPr>
          <p:cNvSpPr/>
          <p:nvPr/>
        </p:nvSpPr>
        <p:spPr>
          <a:xfrm>
            <a:off x="4127500" y="5854700"/>
            <a:ext cx="4572000" cy="127000"/>
          </a:xfrm>
          <a:prstGeom prst="roundRect">
            <a:avLst/>
          </a:prstGeom>
          <a:solidFill>
            <a:srgbClr val="EEF2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69F379CB-F9F0-4394-07D6-1B4C3E931400}"/>
              </a:ext>
            </a:extLst>
          </p:cNvPr>
          <p:cNvSpPr/>
          <p:nvPr/>
        </p:nvSpPr>
        <p:spPr>
          <a:xfrm>
            <a:off x="4127500" y="5854700"/>
            <a:ext cx="1224643" cy="127000"/>
          </a:xfrm>
          <a:prstGeom prst="roundRect">
            <a:avLst/>
          </a:prstGeom>
          <a:solidFill>
            <a:srgbClr val="6956A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BA1BFA1-DA71-0E73-D9A4-5C19015A6600}"/>
              </a:ext>
            </a:extLst>
          </p:cNvPr>
          <p:cNvSpPr txBox="1"/>
          <p:nvPr/>
        </p:nvSpPr>
        <p:spPr>
          <a:xfrm>
            <a:off x="8890000" y="5803900"/>
            <a:ext cx="53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endParaRPr lang="zh-CN" altLang="en-US" sz="900" b="1">
              <a:solidFill>
                <a:srgbClr val="1720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3794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1B541A5-AD05-230C-22BE-95A9FC169E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12529B-8B95-C674-031B-D51C38D6EB7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4C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DD0BFC9-CFE4-5F25-0264-75A476096EC4}"/>
              </a:ext>
            </a:extLst>
          </p:cNvPr>
          <p:cNvSpPr txBox="1"/>
          <p:nvPr/>
        </p:nvSpPr>
        <p:spPr>
          <a:xfrm>
            <a:off x="609600" y="2921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D94C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M3-PI Guard</a:t>
            </a:r>
            <a:endParaRPr lang="zh-CN" altLang="en-US" sz="1200" b="1">
              <a:solidFill>
                <a:srgbClr val="D94C4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368578D-14AE-1A59-E832-023F50D5B2D4}"/>
              </a:ext>
            </a:extLst>
          </p:cNvPr>
          <p:cNvSpPr txBox="1"/>
          <p:nvPr/>
        </p:nvSpPr>
        <p:spPr>
          <a:xfrm>
            <a:off x="609600" y="660400"/>
            <a:ext cx="914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创新点：把提示注入防护落到工具执行边界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4E3F70-2CCF-D511-8802-69A930E17F99}"/>
              </a:ext>
            </a:extLst>
          </p:cNvPr>
          <p:cNvCxnSpPr/>
          <p:nvPr/>
        </p:nvCxnSpPr>
        <p:spPr>
          <a:xfrm>
            <a:off x="609600" y="6070600"/>
            <a:ext cx="10185400" cy="0"/>
          </a:xfrm>
          <a:prstGeom prst="line">
            <a:avLst/>
          </a:prstGeom>
          <a:ln w="12700">
            <a:solidFill>
              <a:srgbClr val="D9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629575BF-3B3A-AD73-04A0-24141F4F479F}"/>
              </a:ext>
            </a:extLst>
          </p:cNvPr>
          <p:cNvSpPr txBox="1"/>
          <p:nvPr/>
        </p:nvSpPr>
        <p:spPr>
          <a:xfrm>
            <a:off x="11150600" y="6146800"/>
            <a:ext cx="63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200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endParaRPr lang="zh-CN" altLang="en-US" sz="1200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13BF6B0-3AC8-D2F7-512D-7E171497EA3D}"/>
              </a:ext>
            </a:extLst>
          </p:cNvPr>
          <p:cNvSpPr/>
          <p:nvPr/>
        </p:nvSpPr>
        <p:spPr>
          <a:xfrm>
            <a:off x="825500" y="1524000"/>
            <a:ext cx="30480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2BB0E6-978F-40B7-1183-EB5FF902407E}"/>
              </a:ext>
            </a:extLst>
          </p:cNvPr>
          <p:cNvSpPr/>
          <p:nvPr/>
        </p:nvSpPr>
        <p:spPr>
          <a:xfrm>
            <a:off x="825500" y="1524000"/>
            <a:ext cx="76200" cy="1397000"/>
          </a:xfrm>
          <a:prstGeom prst="rect">
            <a:avLst/>
          </a:prstGeom>
          <a:solidFill>
            <a:srgbClr val="D94C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36F8740-2FE1-4F15-1395-9EF911F1FC0B}"/>
              </a:ext>
            </a:extLst>
          </p:cNvPr>
          <p:cNvSpPr txBox="1"/>
          <p:nvPr/>
        </p:nvSpPr>
        <p:spPr>
          <a:xfrm>
            <a:off x="1054100" y="1701800"/>
            <a:ext cx="2641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D94C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1600" b="1">
                <a:solidFill>
                  <a:srgbClr val="D94C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行为边界监督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80DFAD-E052-645D-6E42-5AA94DC80C81}"/>
              </a:ext>
            </a:extLst>
          </p:cNvPr>
          <p:cNvSpPr txBox="1"/>
          <p:nvPr/>
        </p:nvSpPr>
        <p:spPr>
          <a:xfrm>
            <a:off x="1054100" y="2159000"/>
            <a:ext cx="2641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在工具执行前裁决，而不是事后仅检查文本输出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90E12A4-B7F7-D61E-72B4-97D10C1F6A85}"/>
              </a:ext>
            </a:extLst>
          </p:cNvPr>
          <p:cNvSpPr/>
          <p:nvPr/>
        </p:nvSpPr>
        <p:spPr>
          <a:xfrm>
            <a:off x="4572000" y="1524000"/>
            <a:ext cx="30480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A5EDF4A-384F-64DB-09D4-CEEFB3C4F292}"/>
              </a:ext>
            </a:extLst>
          </p:cNvPr>
          <p:cNvSpPr/>
          <p:nvPr/>
        </p:nvSpPr>
        <p:spPr>
          <a:xfrm>
            <a:off x="4572000" y="1524000"/>
            <a:ext cx="76200" cy="1397000"/>
          </a:xfrm>
          <a:prstGeom prst="rect">
            <a:avLst/>
          </a:prstGeom>
          <a:solidFill>
            <a:srgbClr val="2C5A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70EA11E-B648-DAE6-8301-70C74DEDD1F5}"/>
              </a:ext>
            </a:extLst>
          </p:cNvPr>
          <p:cNvSpPr txBox="1"/>
          <p:nvPr/>
        </p:nvSpPr>
        <p:spPr>
          <a:xfrm>
            <a:off x="4800600" y="1701800"/>
            <a:ext cx="2641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2C5A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1600" b="1">
                <a:solidFill>
                  <a:srgbClr val="2C5A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多信号风险评分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F79065B-D923-87AA-D8F9-544CCE7D391F}"/>
              </a:ext>
            </a:extLst>
          </p:cNvPr>
          <p:cNvSpPr txBox="1"/>
          <p:nvPr/>
        </p:nvSpPr>
        <p:spPr>
          <a:xfrm>
            <a:off x="4800600" y="2159000"/>
            <a:ext cx="26416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融合工具类型、路径、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endpoint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、注入文本和敏感数据流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CDC1016-470E-FBBF-AC7A-66C22B923C65}"/>
              </a:ext>
            </a:extLst>
          </p:cNvPr>
          <p:cNvSpPr/>
          <p:nvPr/>
        </p:nvSpPr>
        <p:spPr>
          <a:xfrm>
            <a:off x="8318500" y="1524000"/>
            <a:ext cx="30480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6E1B88-8913-6545-A586-CC056AA124E6}"/>
              </a:ext>
            </a:extLst>
          </p:cNvPr>
          <p:cNvSpPr/>
          <p:nvPr/>
        </p:nvSpPr>
        <p:spPr>
          <a:xfrm>
            <a:off x="8318500" y="1524000"/>
            <a:ext cx="76200" cy="1397000"/>
          </a:xfrm>
          <a:prstGeom prst="rect">
            <a:avLst/>
          </a:prstGeom>
          <a:solidFill>
            <a:srgbClr val="6956A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4B1EB2D-1C76-369C-7932-F21AA32AD0A1}"/>
              </a:ext>
            </a:extLst>
          </p:cNvPr>
          <p:cNvSpPr txBox="1"/>
          <p:nvPr/>
        </p:nvSpPr>
        <p:spPr>
          <a:xfrm>
            <a:off x="8547100" y="1701800"/>
            <a:ext cx="2641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6956A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1600" b="1">
                <a:solidFill>
                  <a:srgbClr val="6956A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结构化注入检测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5CCF97A-BC13-5537-B07C-00AB69D827BF}"/>
              </a:ext>
            </a:extLst>
          </p:cNvPr>
          <p:cNvSpPr txBox="1"/>
          <p:nvPr/>
        </p:nvSpPr>
        <p:spPr>
          <a:xfrm>
            <a:off x="8547100" y="2159000"/>
            <a:ext cx="2641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覆盖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JSON/RPC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字段诱导、工具输出注入和多语言混淆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696B1FE-696F-399F-9F20-4B55B396F7E5}"/>
              </a:ext>
            </a:extLst>
          </p:cNvPr>
          <p:cNvSpPr/>
          <p:nvPr/>
        </p:nvSpPr>
        <p:spPr>
          <a:xfrm>
            <a:off x="2667000" y="3810000"/>
            <a:ext cx="30480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5953E5C-4524-F320-79FA-46035CDB0359}"/>
              </a:ext>
            </a:extLst>
          </p:cNvPr>
          <p:cNvSpPr/>
          <p:nvPr/>
        </p:nvSpPr>
        <p:spPr>
          <a:xfrm>
            <a:off x="2667000" y="3810000"/>
            <a:ext cx="76200" cy="1397000"/>
          </a:xfrm>
          <a:prstGeom prst="rect">
            <a:avLst/>
          </a:prstGeom>
          <a:solidFill>
            <a:srgbClr val="118A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D11BFF8-FD67-4142-CB44-BBDEB7DCDBAF}"/>
              </a:ext>
            </a:extLst>
          </p:cNvPr>
          <p:cNvSpPr txBox="1"/>
          <p:nvPr/>
        </p:nvSpPr>
        <p:spPr>
          <a:xfrm>
            <a:off x="2895600" y="3987800"/>
            <a:ext cx="2641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118A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 </a:t>
            </a:r>
            <a:r>
              <a:rPr lang="zh-CN" altLang="en-US" sz="1600" b="1">
                <a:solidFill>
                  <a:srgbClr val="118A8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可复现实验闭环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8A26449-82FE-0034-0589-DBD161A93DD7}"/>
              </a:ext>
            </a:extLst>
          </p:cNvPr>
          <p:cNvSpPr txBox="1"/>
          <p:nvPr/>
        </p:nvSpPr>
        <p:spPr>
          <a:xfrm>
            <a:off x="2895600" y="4445000"/>
            <a:ext cx="26416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AttackCase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RunLog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evaluate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figures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Dashboard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一体化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209D1BBE-C4F0-659A-B5A3-0780AB05F391}"/>
              </a:ext>
            </a:extLst>
          </p:cNvPr>
          <p:cNvSpPr/>
          <p:nvPr/>
        </p:nvSpPr>
        <p:spPr>
          <a:xfrm>
            <a:off x="6477000" y="3810000"/>
            <a:ext cx="30480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50FF0AC-5908-0D31-0D0B-7BCDA999B6FB}"/>
              </a:ext>
            </a:extLst>
          </p:cNvPr>
          <p:cNvSpPr/>
          <p:nvPr/>
        </p:nvSpPr>
        <p:spPr>
          <a:xfrm>
            <a:off x="6477000" y="3810000"/>
            <a:ext cx="76200" cy="1397000"/>
          </a:xfrm>
          <a:prstGeom prst="rect">
            <a:avLst/>
          </a:prstGeom>
          <a:solidFill>
            <a:srgbClr val="D88A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1813505-8C2E-31F1-DA00-A5EC91EEF29B}"/>
              </a:ext>
            </a:extLst>
          </p:cNvPr>
          <p:cNvSpPr txBox="1"/>
          <p:nvPr/>
        </p:nvSpPr>
        <p:spPr>
          <a:xfrm>
            <a:off x="6705600" y="3987800"/>
            <a:ext cx="2641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D88A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 </a:t>
            </a:r>
            <a:r>
              <a:rPr lang="zh-CN" altLang="en-US" sz="1600" b="1">
                <a:solidFill>
                  <a:srgbClr val="D88A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答辩友好解释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326B5E9-1D59-26E5-9532-2D568BAE3611}"/>
              </a:ext>
            </a:extLst>
          </p:cNvPr>
          <p:cNvSpPr txBox="1"/>
          <p:nvPr/>
        </p:nvSpPr>
        <p:spPr>
          <a:xfrm>
            <a:off x="6705600" y="4445000"/>
            <a:ext cx="2641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每次阻断都能回放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context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tool_call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risk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reasons</a:t>
            </a:r>
            <a:endParaRPr lang="zh-CN" altLang="en-US" sz="1500">
              <a:solidFill>
                <a:srgbClr val="1720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5376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ED310DA-2F48-A2C4-2193-B108D44FA1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4FD6C6-F6C4-C2CD-273B-3F20DE3CD84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94C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8E5051D-A781-1BF0-5183-957C19CEFF2E}"/>
              </a:ext>
            </a:extLst>
          </p:cNvPr>
          <p:cNvSpPr txBox="1"/>
          <p:nvPr/>
        </p:nvSpPr>
        <p:spPr>
          <a:xfrm>
            <a:off x="609600" y="2921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D94C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M3-PI Guard</a:t>
            </a:r>
            <a:endParaRPr lang="zh-CN" altLang="en-US" sz="1200" b="1">
              <a:solidFill>
                <a:srgbClr val="D94C4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F5D5C83-BF2B-131E-C682-E69C80790AFB}"/>
              </a:ext>
            </a:extLst>
          </p:cNvPr>
          <p:cNvSpPr txBox="1"/>
          <p:nvPr/>
        </p:nvSpPr>
        <p:spPr>
          <a:xfrm>
            <a:off x="609600" y="660400"/>
            <a:ext cx="914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总结：可展示、可复现、可解释的防护原型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51EC996-3040-72C9-6905-066B07B8CC54}"/>
              </a:ext>
            </a:extLst>
          </p:cNvPr>
          <p:cNvCxnSpPr/>
          <p:nvPr/>
        </p:nvCxnSpPr>
        <p:spPr>
          <a:xfrm>
            <a:off x="609600" y="6070600"/>
            <a:ext cx="10185400" cy="0"/>
          </a:xfrm>
          <a:prstGeom prst="line">
            <a:avLst/>
          </a:prstGeom>
          <a:ln w="12700">
            <a:solidFill>
              <a:srgbClr val="D9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7ECF3F89-C822-AFA6-4CC8-1144B4DEE10C}"/>
              </a:ext>
            </a:extLst>
          </p:cNvPr>
          <p:cNvSpPr txBox="1"/>
          <p:nvPr/>
        </p:nvSpPr>
        <p:spPr>
          <a:xfrm>
            <a:off x="11150600" y="6146800"/>
            <a:ext cx="63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200">
                <a:solidFill>
                  <a:srgbClr val="5D69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endParaRPr lang="zh-CN" altLang="en-US" sz="1200">
              <a:solidFill>
                <a:srgbClr val="5D69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99F5834-EDAB-E5FE-0927-B35A42BAC7DE}"/>
              </a:ext>
            </a:extLst>
          </p:cNvPr>
          <p:cNvSpPr/>
          <p:nvPr/>
        </p:nvSpPr>
        <p:spPr>
          <a:xfrm>
            <a:off x="698500" y="1524000"/>
            <a:ext cx="4953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435DE4-C3C1-AB1E-F235-E02DE6C9D259}"/>
              </a:ext>
            </a:extLst>
          </p:cNvPr>
          <p:cNvSpPr/>
          <p:nvPr/>
        </p:nvSpPr>
        <p:spPr>
          <a:xfrm>
            <a:off x="698500" y="1524000"/>
            <a:ext cx="76200" cy="2794000"/>
          </a:xfrm>
          <a:prstGeom prst="rect">
            <a:avLst/>
          </a:prstGeom>
          <a:solidFill>
            <a:srgbClr val="2E9D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20B8780-510D-6F79-3C49-858B69C9BE24}"/>
              </a:ext>
            </a:extLst>
          </p:cNvPr>
          <p:cNvSpPr txBox="1"/>
          <p:nvPr/>
        </p:nvSpPr>
        <p:spPr>
          <a:xfrm>
            <a:off x="927100" y="1701800"/>
            <a:ext cx="4546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2E9D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已经完成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49968B-FBEF-AE52-CC94-EE568A67C024}"/>
              </a:ext>
            </a:extLst>
          </p:cNvPr>
          <p:cNvSpPr txBox="1"/>
          <p:nvPr/>
        </p:nvSpPr>
        <p:spPr>
          <a:xfrm>
            <a:off x="927100" y="2159000"/>
            <a:ext cx="45466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Guard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初版升级为多信号行为监督系统
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评测支持多维分组，图表和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Dashboard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支撑展示
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报告、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PPT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、讲稿和问题准备已匿名化整理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AA66918-A1CD-C4FD-961C-73A3A2478258}"/>
              </a:ext>
            </a:extLst>
          </p:cNvPr>
          <p:cNvSpPr/>
          <p:nvPr/>
        </p:nvSpPr>
        <p:spPr>
          <a:xfrm>
            <a:off x="6540500" y="1524000"/>
            <a:ext cx="4953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DD9C44-AD07-87F6-924E-A0283ACB404F}"/>
              </a:ext>
            </a:extLst>
          </p:cNvPr>
          <p:cNvSpPr/>
          <p:nvPr/>
        </p:nvSpPr>
        <p:spPr>
          <a:xfrm>
            <a:off x="6540500" y="1524000"/>
            <a:ext cx="76200" cy="2794000"/>
          </a:xfrm>
          <a:prstGeom prst="rect">
            <a:avLst/>
          </a:prstGeom>
          <a:solidFill>
            <a:srgbClr val="D88A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82A18A7-10A7-CB03-69DE-116081475858}"/>
              </a:ext>
            </a:extLst>
          </p:cNvPr>
          <p:cNvSpPr txBox="1"/>
          <p:nvPr/>
        </p:nvSpPr>
        <p:spPr>
          <a:xfrm>
            <a:off x="6769100" y="1701800"/>
            <a:ext cx="4546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D88A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仍需说明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8ABF367-BCE7-F34A-8C4B-89A3C6095EF8}"/>
              </a:ext>
            </a:extLst>
          </p:cNvPr>
          <p:cNvSpPr txBox="1"/>
          <p:nvPr/>
        </p:nvSpPr>
        <p:spPr>
          <a:xfrm>
            <a:off x="6769100" y="2159000"/>
            <a:ext cx="45466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规则型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Guard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对深度语义改写仍有限
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代表样本规模小于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stub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全量矩阵
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目录页码与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PDF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需在 </a:t>
            </a:r>
            <a:r>
              <a:rPr lang="en-US" altLang="zh-CN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Word/WPS </a:t>
            </a:r>
            <a:r>
              <a:rPr lang="zh-CN" altLang="en-US" sz="1500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中最终确认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11373CA-1D6B-FB8D-9751-582889D6D287}"/>
              </a:ext>
            </a:extLst>
          </p:cNvPr>
          <p:cNvSpPr txBox="1"/>
          <p:nvPr/>
        </p:nvSpPr>
        <p:spPr>
          <a:xfrm>
            <a:off x="914400" y="4953000"/>
            <a:ext cx="103505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1720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一句话收束：本作品用本地可复现的行为监督，把提示注入风险从不可见文本诱导变成可量化、可阻断、可回放的工具行为。</a:t>
            </a:r>
          </a:p>
        </p:txBody>
      </p:sp>
    </p:spTree>
    <p:extLst>
      <p:ext uri="{BB962C8B-B14F-4D97-AF65-F5344CB8AC3E}">
        <p14:creationId xmlns:p14="http://schemas.microsoft.com/office/powerpoint/2010/main" val="2739693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1187</Words>
  <Application>Microsoft Office PowerPoint</Application>
  <PresentationFormat>自定义</PresentationFormat>
  <Paragraphs>161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禹豪 陆</dc:creator>
  <cp:lastModifiedBy>禹豪 陆</cp:lastModifiedBy>
  <cp:revision>1</cp:revision>
  <dcterms:created xsi:type="dcterms:W3CDTF">2026-06-07T20:05:04Z</dcterms:created>
  <dcterms:modified xsi:type="dcterms:W3CDTF">2026-06-07T20:05:04Z</dcterms:modified>
</cp:coreProperties>
</file>